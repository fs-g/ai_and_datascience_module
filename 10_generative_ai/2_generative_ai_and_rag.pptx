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7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87" r:id="rId25"/>
    <p:sldId id="288" r:id="rId26"/>
    <p:sldId id="289" r:id="rId27"/>
    <p:sldId id="291" r:id="rId28"/>
    <p:sldId id="292" r:id="rId29"/>
    <p:sldId id="279" r:id="rId30"/>
    <p:sldId id="280" r:id="rId31"/>
    <p:sldId id="281" r:id="rId32"/>
    <p:sldId id="282" r:id="rId33"/>
    <p:sldId id="283" r:id="rId34"/>
    <p:sldId id="284" r:id="rId35"/>
    <p:sldId id="285" r:id="rId36"/>
    <p:sldId id="286" r:id="rId37"/>
    <p:sldId id="294" r:id="rId38"/>
    <p:sldId id="295" r:id="rId39"/>
    <p:sldId id="296" r:id="rId40"/>
    <p:sldId id="297" r:id="rId41"/>
    <p:sldId id="298" r:id="rId42"/>
    <p:sldId id="299" r:id="rId43"/>
    <p:sldId id="300" r:id="rId44"/>
    <p:sldId id="301" r:id="rId45"/>
    <p:sldId id="30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955E98-C326-49C0-8298-EA6735EF1B3D}" type="datetimeFigureOut">
              <a:rPr lang="en-US" smtClean="0"/>
              <a:t>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C9D209-FC95-4EF4-9037-0CD066DD8893}" type="slidenum">
              <a:rPr lang="en-US" smtClean="0"/>
              <a:t>‹#›</a:t>
            </a:fld>
            <a:endParaRPr lang="en-US"/>
          </a:p>
        </p:txBody>
      </p:sp>
    </p:spTree>
    <p:extLst>
      <p:ext uri="{BB962C8B-B14F-4D97-AF65-F5344CB8AC3E}">
        <p14:creationId xmlns:p14="http://schemas.microsoft.com/office/powerpoint/2010/main" val="1003114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C9D209-FC95-4EF4-9037-0CD066DD8893}" type="slidenum">
              <a:rPr lang="en-US" smtClean="0"/>
              <a:t>19</a:t>
            </a:fld>
            <a:endParaRPr lang="en-US"/>
          </a:p>
        </p:txBody>
      </p:sp>
    </p:spTree>
    <p:extLst>
      <p:ext uri="{BB962C8B-B14F-4D97-AF65-F5344CB8AC3E}">
        <p14:creationId xmlns:p14="http://schemas.microsoft.com/office/powerpoint/2010/main" val="4043293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89E1576-FA0B-425B-AF6C-98F1D4C5F911}"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2934086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9E1576-FA0B-425B-AF6C-98F1D4C5F911}"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1508051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9E1576-FA0B-425B-AF6C-98F1D4C5F911}"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297944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89E1576-FA0B-425B-AF6C-98F1D4C5F911}"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442646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89E1576-FA0B-425B-AF6C-98F1D4C5F911}" type="datetimeFigureOut">
              <a:rPr lang="en-US" smtClean="0"/>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3642657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89E1576-FA0B-425B-AF6C-98F1D4C5F911}" type="datetimeFigureOut">
              <a:rPr lang="en-US" smtClean="0"/>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2479585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9E1576-FA0B-425B-AF6C-98F1D4C5F911}" type="datetimeFigureOut">
              <a:rPr lang="en-US" smtClean="0"/>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1814937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9E1576-FA0B-425B-AF6C-98F1D4C5F911}"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2747871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9E1576-FA0B-425B-AF6C-98F1D4C5F911}"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3307483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9E1576-FA0B-425B-AF6C-98F1D4C5F911}"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3695113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9E1576-FA0B-425B-AF6C-98F1D4C5F911}"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CB40F0-7C3E-4EAD-9EB3-60DDE1064A32}" type="slidenum">
              <a:rPr lang="en-US" smtClean="0"/>
              <a:t>‹#›</a:t>
            </a:fld>
            <a:endParaRPr lang="en-US"/>
          </a:p>
        </p:txBody>
      </p:sp>
    </p:spTree>
    <p:extLst>
      <p:ext uri="{BB962C8B-B14F-4D97-AF65-F5344CB8AC3E}">
        <p14:creationId xmlns:p14="http://schemas.microsoft.com/office/powerpoint/2010/main" val="286581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9E1576-FA0B-425B-AF6C-98F1D4C5F911}" type="datetimeFigureOut">
              <a:rPr lang="en-US" smtClean="0"/>
              <a:t>11/16/2025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CB40F0-7C3E-4EAD-9EB3-60DDE1064A32}" type="slidenum">
              <a:rPr lang="en-US" smtClean="0"/>
              <a:t>‹#›</a:t>
            </a:fld>
            <a:endParaRPr lang="en-US"/>
          </a:p>
        </p:txBody>
      </p:sp>
    </p:spTree>
    <p:extLst>
      <p:ext uri="{BB962C8B-B14F-4D97-AF65-F5344CB8AC3E}">
        <p14:creationId xmlns:p14="http://schemas.microsoft.com/office/powerpoint/2010/main" val="3378130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microsoft.com/en-us/research/blog/graphrag-unlocking-llm-discovery-on-narrative-private-data/"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arxiv.org/abs/2401.18059" TargetMode="External"/><Relationship Id="rId2" Type="http://schemas.openxmlformats.org/officeDocument/2006/relationships/hyperlink" Target="https://github.com/parthsarthi03/raptor"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arxiv.org/abs/2404.0886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Generative AI</a:t>
            </a:r>
            <a:endParaRPr lang="en-US" dirty="0"/>
          </a:p>
        </p:txBody>
      </p:sp>
    </p:spTree>
    <p:extLst>
      <p:ext uri="{BB962C8B-B14F-4D97-AF65-F5344CB8AC3E}">
        <p14:creationId xmlns:p14="http://schemas.microsoft.com/office/powerpoint/2010/main" val="1921698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
            </a:r>
            <a:r>
              <a:rPr lang="en-US" dirty="0" smtClean="0"/>
              <a:t>etrieval </a:t>
            </a:r>
            <a:r>
              <a:rPr lang="en-US" dirty="0" smtClean="0"/>
              <a:t>augmented generation (RAG)</a:t>
            </a:r>
            <a:endParaRPr lang="en-US" dirty="0"/>
          </a:p>
        </p:txBody>
      </p:sp>
    </p:spTree>
    <p:extLst>
      <p:ext uri="{BB962C8B-B14F-4D97-AF65-F5344CB8AC3E}">
        <p14:creationId xmlns:p14="http://schemas.microsoft.com/office/powerpoint/2010/main" val="503196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is retrieval augmented generation (RAG)</a:t>
            </a:r>
            <a:endParaRPr lang="en-US" dirty="0"/>
          </a:p>
        </p:txBody>
      </p:sp>
      <p:sp>
        <p:nvSpPr>
          <p:cNvPr id="3" name="Content Placeholder 2"/>
          <p:cNvSpPr>
            <a:spLocks noGrp="1"/>
          </p:cNvSpPr>
          <p:nvPr>
            <p:ph idx="1"/>
          </p:nvPr>
        </p:nvSpPr>
        <p:spPr/>
        <p:txBody>
          <a:bodyPr/>
          <a:lstStyle/>
          <a:p>
            <a:r>
              <a:rPr lang="en-US" dirty="0" smtClean="0"/>
              <a:t>Retrieval augmented generation (RAG) is an architecture that provides the most relevant and contextually-important proprietary, private or dynamic data to your Generative AI application's large language model (LLM) when it is performing tasks to enhance its accuracy and performance.</a:t>
            </a:r>
            <a:endParaRPr lang="en-US" dirty="0"/>
          </a:p>
        </p:txBody>
      </p:sp>
    </p:spTree>
    <p:extLst>
      <p:ext uri="{BB962C8B-B14F-4D97-AF65-F5344CB8AC3E}">
        <p14:creationId xmlns:p14="http://schemas.microsoft.com/office/powerpoint/2010/main" val="1389412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RAG in AI / LLM?</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Retrieval Augmented Generation (RAG) in AI is a technique that leverages a </a:t>
            </a:r>
            <a:r>
              <a:rPr lang="en-US" b="1" dirty="0" smtClean="0"/>
              <a:t>database</a:t>
            </a:r>
            <a:r>
              <a:rPr lang="en-US" dirty="0" smtClean="0"/>
              <a:t> to fetch the </a:t>
            </a:r>
            <a:r>
              <a:rPr lang="en-US" b="1" dirty="0" smtClean="0"/>
              <a:t>most contextually relevant results </a:t>
            </a:r>
            <a:r>
              <a:rPr lang="en-US" dirty="0" smtClean="0"/>
              <a:t>that </a:t>
            </a:r>
            <a:r>
              <a:rPr lang="en-US" b="1" dirty="0" smtClean="0"/>
              <a:t>match the user's query at generation time</a:t>
            </a:r>
            <a:r>
              <a:rPr lang="en-US" dirty="0" smtClean="0"/>
              <a:t>.</a:t>
            </a:r>
          </a:p>
          <a:p>
            <a:r>
              <a:rPr lang="en-US" dirty="0" smtClean="0"/>
              <a:t>Products built on top of Large Language Models (LLMs) such as </a:t>
            </a:r>
            <a:r>
              <a:rPr lang="en-US" dirty="0" err="1" smtClean="0"/>
              <a:t>OpenAI's</a:t>
            </a:r>
            <a:r>
              <a:rPr lang="en-US" dirty="0" smtClean="0"/>
              <a:t> </a:t>
            </a:r>
            <a:r>
              <a:rPr lang="en-US" dirty="0" err="1" smtClean="0"/>
              <a:t>ChatGPT</a:t>
            </a:r>
            <a:r>
              <a:rPr lang="en-US" dirty="0" smtClean="0"/>
              <a:t> and </a:t>
            </a:r>
            <a:r>
              <a:rPr lang="en-US" dirty="0" err="1" smtClean="0"/>
              <a:t>Anthropic's</a:t>
            </a:r>
            <a:r>
              <a:rPr lang="en-US" dirty="0" smtClean="0"/>
              <a:t> Claude are brilliant yet flawed. Powerful as they are, current LLMs suffer from several drawbacks:</a:t>
            </a:r>
          </a:p>
          <a:p>
            <a:pPr lvl="1"/>
            <a:r>
              <a:rPr lang="en-US" dirty="0" smtClean="0"/>
              <a:t>They are static - LLMs are “frozen in time” and lack up-to-date information. It is not feasible to update their gigantic training datasets.</a:t>
            </a:r>
          </a:p>
          <a:p>
            <a:pPr lvl="1"/>
            <a:r>
              <a:rPr lang="en-US" dirty="0" smtClean="0"/>
              <a:t>They lack domain-specific knowledge - LLMs are trained for generalized tasks, meaning they do not know your company’s private data.</a:t>
            </a:r>
          </a:p>
          <a:p>
            <a:pPr lvl="1"/>
            <a:r>
              <a:rPr lang="en-US" dirty="0" smtClean="0"/>
              <a:t>They function as “black boxes” - it’s not easy to understand which sources an LLM was considering when they arrived at their conclusions.</a:t>
            </a:r>
          </a:p>
          <a:p>
            <a:pPr lvl="1"/>
            <a:r>
              <a:rPr lang="en-US" dirty="0" smtClean="0"/>
              <a:t>They are inefficient and costly to produce - Few organizations have the financial and human resources to produce and deploy foundation models.</a:t>
            </a:r>
            <a:endParaRPr lang="en-US" dirty="0"/>
          </a:p>
        </p:txBody>
      </p:sp>
    </p:spTree>
    <p:extLst>
      <p:ext uri="{BB962C8B-B14F-4D97-AF65-F5344CB8AC3E}">
        <p14:creationId xmlns:p14="http://schemas.microsoft.com/office/powerpoint/2010/main" val="1656055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LLMs are “stuck” </a:t>
            </a:r>
            <a:endParaRPr lang="en-US" dirty="0"/>
          </a:p>
        </p:txBody>
      </p:sp>
      <p:sp>
        <p:nvSpPr>
          <p:cNvPr id="3" name="Content Placeholder 2"/>
          <p:cNvSpPr>
            <a:spLocks noGrp="1"/>
          </p:cNvSpPr>
          <p:nvPr>
            <p:ph idx="1"/>
          </p:nvPr>
        </p:nvSpPr>
        <p:spPr/>
        <p:txBody>
          <a:bodyPr/>
          <a:lstStyle/>
          <a:p>
            <a:r>
              <a:rPr lang="en-US" dirty="0" smtClean="0"/>
              <a:t>LLMs are “stuck” at a particular time, but RAG can bring them into the present.</a:t>
            </a:r>
          </a:p>
          <a:p>
            <a:r>
              <a:rPr lang="en-US" dirty="0" err="1" smtClean="0"/>
              <a:t>ChatGPT’s</a:t>
            </a:r>
            <a:r>
              <a:rPr lang="en-US" dirty="0" smtClean="0"/>
              <a:t> training data “cutoff point” was September 2021. If you ask </a:t>
            </a:r>
            <a:r>
              <a:rPr lang="en-US" dirty="0" err="1" smtClean="0"/>
              <a:t>ChatGPT</a:t>
            </a:r>
            <a:r>
              <a:rPr lang="en-US" dirty="0" smtClean="0"/>
              <a:t> about something that occurred last month, it will not only fail to answer your question factually; it will likely dream up a very convincing-sounding outright lie. We commonly refer to this behavior as “</a:t>
            </a:r>
            <a:r>
              <a:rPr lang="en-US" b="1" dirty="0" smtClean="0"/>
              <a:t>hallucination</a:t>
            </a:r>
            <a:r>
              <a:rPr lang="en-US" dirty="0" smtClean="0"/>
              <a:t>.”</a:t>
            </a:r>
          </a:p>
          <a:p>
            <a:endParaRPr lang="en-US" dirty="0" smtClean="0"/>
          </a:p>
          <a:p>
            <a:endParaRPr lang="en-US" dirty="0"/>
          </a:p>
        </p:txBody>
      </p:sp>
    </p:spTree>
    <p:extLst>
      <p:ext uri="{BB962C8B-B14F-4D97-AF65-F5344CB8AC3E}">
        <p14:creationId xmlns:p14="http://schemas.microsoft.com/office/powerpoint/2010/main" val="48246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53955" y="320098"/>
            <a:ext cx="8387209" cy="6392354"/>
          </a:xfrm>
          <a:prstGeom prst="rect">
            <a:avLst/>
          </a:prstGeom>
        </p:spPr>
      </p:pic>
    </p:spTree>
    <p:extLst>
      <p:ext uri="{BB962C8B-B14F-4D97-AF65-F5344CB8AC3E}">
        <p14:creationId xmlns:p14="http://schemas.microsoft.com/office/powerpoint/2010/main" val="98349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smtClean="0"/>
              <a:t>The LLM lacks domain-specific information about the Volvo XC60 in the above example. Although the LLM has no idea how to turn off reverse braking for that car model, it performs its generative task to the best of its ability anyway, producing an answer that sounds grammatically solid - but is unfortunately flatly incorrect.</a:t>
            </a:r>
          </a:p>
          <a:p>
            <a:r>
              <a:rPr lang="en-US" dirty="0" smtClean="0"/>
              <a:t>The reason LLMs like </a:t>
            </a:r>
            <a:r>
              <a:rPr lang="en-US" dirty="0" err="1" smtClean="0"/>
              <a:t>ChatGPT</a:t>
            </a:r>
            <a:r>
              <a:rPr lang="en-US" dirty="0" smtClean="0"/>
              <a:t> feel so bright is that they've seen an immense amount of human creative output - entire companies’ worth of open source code, libraries worth of books, lifetimes of conversations, scientific datasets, etc., but, critically, this core training data is static.</a:t>
            </a:r>
          </a:p>
          <a:p>
            <a:r>
              <a:rPr lang="en-US" dirty="0" smtClean="0"/>
              <a:t>After </a:t>
            </a:r>
            <a:r>
              <a:rPr lang="en-US" dirty="0" err="1" smtClean="0"/>
              <a:t>OpenAI</a:t>
            </a:r>
            <a:r>
              <a:rPr lang="en-US" dirty="0" smtClean="0"/>
              <a:t> finished training the foundation model (FM) behind </a:t>
            </a:r>
            <a:r>
              <a:rPr lang="en-US" dirty="0" err="1" smtClean="0"/>
              <a:t>ChatGPT</a:t>
            </a:r>
            <a:r>
              <a:rPr lang="en-US" dirty="0" smtClean="0"/>
              <a:t> in 2021, it received no additional updated information about the world; it remains oblivious to significant world events, weather systems, new laws, the outcomes of sporting events, and, as demonstrated in the image above, the operating procedures for the latest automobiles.</a:t>
            </a:r>
            <a:endParaRPr lang="en-US" dirty="0"/>
          </a:p>
        </p:txBody>
      </p:sp>
    </p:spTree>
    <p:extLst>
      <p:ext uri="{BB962C8B-B14F-4D97-AF65-F5344CB8AC3E}">
        <p14:creationId xmlns:p14="http://schemas.microsoft.com/office/powerpoint/2010/main" val="351955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RAG</a:t>
            </a:r>
            <a:endParaRPr lang="en-US" dirty="0"/>
          </a:p>
        </p:txBody>
      </p:sp>
      <p:sp>
        <p:nvSpPr>
          <p:cNvPr id="3" name="Content Placeholder 2"/>
          <p:cNvSpPr>
            <a:spLocks noGrp="1"/>
          </p:cNvSpPr>
          <p:nvPr>
            <p:ph idx="1"/>
          </p:nvPr>
        </p:nvSpPr>
        <p:spPr/>
        <p:txBody>
          <a:bodyPr/>
          <a:lstStyle/>
          <a:p>
            <a:r>
              <a:rPr lang="en-US" dirty="0" smtClean="0"/>
              <a:t>RAG provides up-to-date information about the world and domain-specific data to your </a:t>
            </a:r>
            <a:r>
              <a:rPr lang="en-US" dirty="0" err="1" smtClean="0"/>
              <a:t>GenAI</a:t>
            </a:r>
            <a:r>
              <a:rPr lang="en-US" dirty="0" smtClean="0"/>
              <a:t> applications.</a:t>
            </a:r>
          </a:p>
          <a:p>
            <a:r>
              <a:rPr lang="en-US" dirty="0" smtClean="0"/>
              <a:t>Retrieval Augmented Generation means fetching up-to-date or context-specific data from an external database and making it available to an LLM when asking it to generate a response, solving this problem. You can store proprietary business data or information about the world and have your application fetch it for the LLM at generation time, reducing the likelihood of hallucinations. The result is a noticeable boost in the performance and accuracy of your </a:t>
            </a:r>
            <a:r>
              <a:rPr lang="en-US" dirty="0" err="1" smtClean="0"/>
              <a:t>GenAI</a:t>
            </a:r>
            <a:r>
              <a:rPr lang="en-US" dirty="0" smtClean="0"/>
              <a:t> application.</a:t>
            </a:r>
            <a:endParaRPr lang="en-US" dirty="0"/>
          </a:p>
        </p:txBody>
      </p:sp>
    </p:spTree>
    <p:extLst>
      <p:ext uri="{BB962C8B-B14F-4D97-AF65-F5344CB8AC3E}">
        <p14:creationId xmlns:p14="http://schemas.microsoft.com/office/powerpoint/2010/main" val="1144347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LLMs lack context from private data </a:t>
            </a:r>
            <a:endParaRPr lang="en-US" dirty="0"/>
          </a:p>
        </p:txBody>
      </p:sp>
      <p:sp>
        <p:nvSpPr>
          <p:cNvPr id="3" name="Content Placeholder 2"/>
          <p:cNvSpPr>
            <a:spLocks noGrp="1"/>
          </p:cNvSpPr>
          <p:nvPr>
            <p:ph idx="1"/>
          </p:nvPr>
        </p:nvSpPr>
        <p:spPr/>
        <p:txBody>
          <a:bodyPr>
            <a:normAutofit fontScale="92500"/>
          </a:bodyPr>
          <a:lstStyle/>
          <a:p>
            <a:r>
              <a:rPr lang="en-US" dirty="0" smtClean="0"/>
              <a:t>LLMs lack context from private data - leading to hallucinations when asked domain or company-specific questions.</a:t>
            </a:r>
          </a:p>
          <a:p>
            <a:r>
              <a:rPr lang="en-US" dirty="0" smtClean="0"/>
              <a:t>The second major drawback of current LLMs is that, although their base corpus of knowledge is impressive, they do not know the specifics of your business, your requirements, your customer base, or the context your application is running in - such as your e-commerce store.</a:t>
            </a:r>
          </a:p>
          <a:p>
            <a:r>
              <a:rPr lang="en-US" dirty="0" smtClean="0"/>
              <a:t>RAG addresses this second issue by providing extra context and factual information to your </a:t>
            </a:r>
            <a:r>
              <a:rPr lang="en-US" dirty="0" err="1" smtClean="0"/>
              <a:t>GenAI</a:t>
            </a:r>
            <a:r>
              <a:rPr lang="en-US" dirty="0" smtClean="0"/>
              <a:t> application’s LLM at generation time: anything from customer records to paragraphs of dialogue in a play, to product specifications and current stock, to audio such as voice or songs. The LLM uses this provided content to generate an informed answer.</a:t>
            </a:r>
            <a:endParaRPr lang="en-US" dirty="0"/>
          </a:p>
        </p:txBody>
      </p:sp>
    </p:spTree>
    <p:extLst>
      <p:ext uri="{BB962C8B-B14F-4D97-AF65-F5344CB8AC3E}">
        <p14:creationId xmlns:p14="http://schemas.microsoft.com/office/powerpoint/2010/main" val="3227118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smtClean="0"/>
              <a:t>Retrieval Augmented Generation allows </a:t>
            </a:r>
            <a:r>
              <a:rPr lang="en-US" dirty="0" err="1" smtClean="0"/>
              <a:t>GenAI</a:t>
            </a:r>
            <a:r>
              <a:rPr lang="en-US" dirty="0" smtClean="0"/>
              <a:t> to cite its sources and improves auditability.</a:t>
            </a:r>
          </a:p>
          <a:p>
            <a:r>
              <a:rPr lang="en-US" dirty="0" smtClean="0"/>
              <a:t>In addition to addressing the </a:t>
            </a:r>
            <a:r>
              <a:rPr lang="en-US" dirty="0" err="1" smtClean="0"/>
              <a:t>recency</a:t>
            </a:r>
            <a:r>
              <a:rPr lang="en-US" dirty="0" smtClean="0"/>
              <a:t> and domain-specific data issues, RAG also allows </a:t>
            </a:r>
            <a:r>
              <a:rPr lang="en-US" dirty="0" err="1" smtClean="0"/>
              <a:t>GenAI</a:t>
            </a:r>
            <a:r>
              <a:rPr lang="en-US" dirty="0" smtClean="0"/>
              <a:t> applications to provide their sources, much like research papers will provide citations for where they obtained an essential piece of data used in their findings.</a:t>
            </a:r>
          </a:p>
          <a:p>
            <a:r>
              <a:rPr lang="en-US" dirty="0" smtClean="0"/>
              <a:t>Imagine a </a:t>
            </a:r>
            <a:r>
              <a:rPr lang="en-US" dirty="0" err="1" smtClean="0"/>
              <a:t>GenAI</a:t>
            </a:r>
            <a:r>
              <a:rPr lang="en-US" dirty="0" smtClean="0"/>
              <a:t> application serving the legal industry by helping lawyers prepare arguments. The </a:t>
            </a:r>
            <a:r>
              <a:rPr lang="en-US" dirty="0" err="1" smtClean="0"/>
              <a:t>GenAI</a:t>
            </a:r>
            <a:r>
              <a:rPr lang="en-US" dirty="0" smtClean="0"/>
              <a:t> application will ultimately present its recommendations as final outputs. Still, RAG enables it to provide citations of the legal precedents, local laws, and the evidence it used when arriving at its proposals.</a:t>
            </a:r>
          </a:p>
          <a:p>
            <a:r>
              <a:rPr lang="en-US" dirty="0" smtClean="0"/>
              <a:t>RAG makes the inner workings of </a:t>
            </a:r>
            <a:r>
              <a:rPr lang="en-US" dirty="0" err="1" smtClean="0"/>
              <a:t>GenAI</a:t>
            </a:r>
            <a:r>
              <a:rPr lang="en-US" dirty="0" smtClean="0"/>
              <a:t> applications easier to audit and understand. It allows end users to jump straight into the same source documents the LLM used when creating its answers.</a:t>
            </a:r>
            <a:endParaRPr lang="en-US" dirty="0"/>
          </a:p>
        </p:txBody>
      </p:sp>
    </p:spTree>
    <p:extLst>
      <p:ext uri="{BB962C8B-B14F-4D97-AF65-F5344CB8AC3E}">
        <p14:creationId xmlns:p14="http://schemas.microsoft.com/office/powerpoint/2010/main" val="3490510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Why is RAG the preferred approach from a cost-efficacy perspective?</a:t>
            </a:r>
          </a:p>
          <a:p>
            <a:r>
              <a:rPr lang="en-US" dirty="0" smtClean="0"/>
              <a:t>There are </a:t>
            </a:r>
            <a:r>
              <a:rPr lang="en-US" b="1" dirty="0" smtClean="0"/>
              <a:t>three</a:t>
            </a:r>
            <a:r>
              <a:rPr lang="en-US" dirty="0" smtClean="0"/>
              <a:t> main options for improving the performance of your </a:t>
            </a:r>
            <a:r>
              <a:rPr lang="en-US" dirty="0" err="1" smtClean="0"/>
              <a:t>GenAI</a:t>
            </a:r>
            <a:r>
              <a:rPr lang="en-US" dirty="0" smtClean="0"/>
              <a:t> application other than RAG. Let’s examine them to understand why RAG remains the main path most companies take today.</a:t>
            </a:r>
            <a:endParaRPr lang="en-US" dirty="0"/>
          </a:p>
        </p:txBody>
      </p:sp>
    </p:spTree>
    <p:extLst>
      <p:ext uri="{BB962C8B-B14F-4D97-AF65-F5344CB8AC3E}">
        <p14:creationId xmlns:p14="http://schemas.microsoft.com/office/powerpoint/2010/main" val="1471315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your own foundation model</a:t>
            </a:r>
            <a:endParaRPr lang="en-US" dirty="0"/>
          </a:p>
        </p:txBody>
      </p:sp>
      <p:sp>
        <p:nvSpPr>
          <p:cNvPr id="3" name="Content Placeholder 2"/>
          <p:cNvSpPr>
            <a:spLocks noGrp="1"/>
          </p:cNvSpPr>
          <p:nvPr>
            <p:ph idx="1"/>
          </p:nvPr>
        </p:nvSpPr>
        <p:spPr/>
        <p:txBody>
          <a:bodyPr>
            <a:normAutofit fontScale="70000" lnSpcReduction="20000"/>
          </a:bodyPr>
          <a:lstStyle/>
          <a:p>
            <a:r>
              <a:rPr lang="en-US" dirty="0" err="1" smtClean="0"/>
              <a:t>OpenAI’s</a:t>
            </a:r>
            <a:r>
              <a:rPr lang="en-US" dirty="0" smtClean="0"/>
              <a:t> Sam Altman estimated it cost around $100 million to train the foundation model behind </a:t>
            </a:r>
            <a:r>
              <a:rPr lang="en-US" dirty="0" err="1" smtClean="0"/>
              <a:t>ChatGPT</a:t>
            </a:r>
            <a:r>
              <a:rPr lang="en-US" dirty="0" smtClean="0"/>
              <a:t>.</a:t>
            </a:r>
          </a:p>
          <a:p>
            <a:r>
              <a:rPr lang="en-US" dirty="0" smtClean="0"/>
              <a:t>Not every company or model will require such a significant investment, but </a:t>
            </a:r>
            <a:r>
              <a:rPr lang="en-US" dirty="0" err="1" smtClean="0"/>
              <a:t>ChatGPT’s</a:t>
            </a:r>
            <a:r>
              <a:rPr lang="en-US" dirty="0" smtClean="0"/>
              <a:t> price tag underscores that cost is a real challenge in producing sophisticated models with today’s techniques.</a:t>
            </a:r>
          </a:p>
          <a:p>
            <a:r>
              <a:rPr lang="en-US" dirty="0" smtClean="0"/>
              <a:t>In addition to raw compute costs, you’ll also face the scarce talent issue: you need specialized teams of machine learning PhDs, top-notch systems engineers, and highly skilled operations folks to tackle the many technical challenges of producing such a model and every other AI company in the world is angling for the same rare talent.</a:t>
            </a:r>
          </a:p>
          <a:p>
            <a:r>
              <a:rPr lang="en-US" dirty="0" smtClean="0"/>
              <a:t>Another challenge is obtaining, sanitizing, and labeling the datasets required to produce a capable foundation model. For example, suppose you’re a legal discovery company considering training your model to answer questions about legal documents. In that case, you’ll also need legal experts to spend many hours labeling training data.</a:t>
            </a:r>
          </a:p>
          <a:p>
            <a:r>
              <a:rPr lang="en-US" dirty="0" smtClean="0"/>
              <a:t>Even if you have access to sufficient capital, can assemble the right team, obtain and label adequate datasets and overcome the many technical hurdles to hosting your model in production, there’s no guarantee of success. The industry has seen several ambitious AI startups come and go, and we expect to see more failures.</a:t>
            </a:r>
            <a:endParaRPr lang="en-US" dirty="0"/>
          </a:p>
        </p:txBody>
      </p:sp>
    </p:spTree>
    <p:extLst>
      <p:ext uri="{BB962C8B-B14F-4D97-AF65-F5344CB8AC3E}">
        <p14:creationId xmlns:p14="http://schemas.microsoft.com/office/powerpoint/2010/main" val="2221671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Fine-tuning: adapting a foundation model to your domain’s data.</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Fine-tuning is the process of retraining a foundation model on new data. It can certainly be cheaper than building a foundation model from scratch. Still, this approach suffers from many of the same downsides of creating a foundation model: you need rare and deep expertise and sufficient data, and the costs and technical complexity of hosting your model in production don’t go away.</a:t>
            </a:r>
          </a:p>
          <a:p>
            <a:r>
              <a:rPr lang="en-US" dirty="0" smtClean="0"/>
              <a:t>Fine-tuning is not a practical approach now that LLMs are </a:t>
            </a:r>
            <a:r>
              <a:rPr lang="en-US" dirty="0" err="1" smtClean="0"/>
              <a:t>pairable</a:t>
            </a:r>
            <a:r>
              <a:rPr lang="en-US" dirty="0" smtClean="0"/>
              <a:t> with vector databases for context retrieval. Some LLM providers, such as </a:t>
            </a:r>
            <a:r>
              <a:rPr lang="en-US" dirty="0" err="1" smtClean="0"/>
              <a:t>OpenAI</a:t>
            </a:r>
            <a:r>
              <a:rPr lang="en-US" dirty="0" smtClean="0"/>
              <a:t>, no longer support fine-tuning for their latest-generation models.</a:t>
            </a:r>
          </a:p>
          <a:p>
            <a:r>
              <a:rPr lang="en-US" dirty="0" smtClean="0"/>
              <a:t>Fine-tuning is an outdated method of improving LLM outputs. It required recurring, costly, and time-intensive labeling work by subject-matter experts and constant monitoring for quality drift, undesirable deviations in the accuracy of a model due to a lack of regular updates, or changes in data distribution.</a:t>
            </a:r>
          </a:p>
          <a:p>
            <a:r>
              <a:rPr lang="en-US" dirty="0" smtClean="0"/>
              <a:t>If your data changes over time, even a fine-tuned model’s accuracy can drop, requiring more costly and time-intensive data labeling, constant quality monitoring, and repeated fine-tuning.</a:t>
            </a:r>
          </a:p>
          <a:p>
            <a:r>
              <a:rPr lang="en-US" dirty="0" smtClean="0"/>
              <a:t>Imagine updating your model every time you sell a car so your </a:t>
            </a:r>
            <a:r>
              <a:rPr lang="en-US" dirty="0" err="1" smtClean="0"/>
              <a:t>GenAI</a:t>
            </a:r>
            <a:r>
              <a:rPr lang="en-US" dirty="0" smtClean="0"/>
              <a:t> application has the most recent inventory data.</a:t>
            </a:r>
            <a:endParaRPr lang="en-US" dirty="0"/>
          </a:p>
        </p:txBody>
      </p:sp>
    </p:spTree>
    <p:extLst>
      <p:ext uri="{BB962C8B-B14F-4D97-AF65-F5344CB8AC3E}">
        <p14:creationId xmlns:p14="http://schemas.microsoft.com/office/powerpoint/2010/main" val="204227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Prompt engineering is insufficient for reducing hallucinations.</a:t>
            </a:r>
            <a:endParaRPr lang="en-US" dirty="0"/>
          </a:p>
        </p:txBody>
      </p:sp>
      <p:sp>
        <p:nvSpPr>
          <p:cNvPr id="3" name="Content Placeholder 2"/>
          <p:cNvSpPr>
            <a:spLocks noGrp="1"/>
          </p:cNvSpPr>
          <p:nvPr>
            <p:ph idx="1"/>
          </p:nvPr>
        </p:nvSpPr>
        <p:spPr/>
        <p:txBody>
          <a:bodyPr>
            <a:normAutofit/>
          </a:bodyPr>
          <a:lstStyle/>
          <a:p>
            <a:r>
              <a:rPr lang="en-US" dirty="0" smtClean="0"/>
              <a:t>Prompt engineering means testing and tweaking the instructions you provide your model to attempt to coax it to do what you want.</a:t>
            </a:r>
          </a:p>
          <a:p>
            <a:r>
              <a:rPr lang="en-US" dirty="0" smtClean="0"/>
              <a:t>It’s also the cheapest option to improve the accuracy of your </a:t>
            </a:r>
            <a:r>
              <a:rPr lang="en-US" dirty="0" err="1" smtClean="0"/>
              <a:t>GenAI</a:t>
            </a:r>
            <a:r>
              <a:rPr lang="en-US" dirty="0" smtClean="0"/>
              <a:t> application because you can quickly update the instructions provided to your </a:t>
            </a:r>
            <a:r>
              <a:rPr lang="en-US" dirty="0" err="1" smtClean="0"/>
              <a:t>GenAI</a:t>
            </a:r>
            <a:r>
              <a:rPr lang="en-US" dirty="0" smtClean="0"/>
              <a:t> application’s LLM with a few code changes.</a:t>
            </a:r>
          </a:p>
          <a:p>
            <a:r>
              <a:rPr lang="en-US" dirty="0" smtClean="0"/>
              <a:t>It refines the responses your LLMs return but cannot provide them with any new or dynamic context, so your </a:t>
            </a:r>
            <a:r>
              <a:rPr lang="en-US" dirty="0" err="1" smtClean="0"/>
              <a:t>GenAI</a:t>
            </a:r>
            <a:r>
              <a:rPr lang="en-US" dirty="0" smtClean="0"/>
              <a:t> application will still lack up-to-date context and be susceptible to hallucination.</a:t>
            </a:r>
            <a:endParaRPr lang="en-US" dirty="0"/>
          </a:p>
        </p:txBody>
      </p:sp>
    </p:spTree>
    <p:extLst>
      <p:ext uri="{BB962C8B-B14F-4D97-AF65-F5344CB8AC3E}">
        <p14:creationId xmlns:p14="http://schemas.microsoft.com/office/powerpoint/2010/main" val="1122826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RAG and semantic search</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Let’s now take a deeper dive into how Retrieval Augmented Generation works.</a:t>
            </a:r>
          </a:p>
          <a:p>
            <a:r>
              <a:rPr lang="en-US" dirty="0" smtClean="0"/>
              <a:t>We’ve discussed how RAG passes additional relevant content from your domain-specific database to an LLM at generation time, alongside the original prompt or question, through a “context window".</a:t>
            </a:r>
          </a:p>
          <a:p>
            <a:r>
              <a:rPr lang="en-US" dirty="0" smtClean="0"/>
              <a:t>An LLM’s context window is its field of vision at a given moment. RAG is like holding up a cue card containing the critical points for your LLM to see, helping it produce more accurate responses incorporating essential data.</a:t>
            </a:r>
          </a:p>
          <a:p>
            <a:r>
              <a:rPr lang="en-US" dirty="0" smtClean="0"/>
              <a:t>To understand RAG, we must first understand </a:t>
            </a:r>
            <a:r>
              <a:rPr lang="en-US" b="1" dirty="0" smtClean="0"/>
              <a:t>semantic</a:t>
            </a:r>
            <a:r>
              <a:rPr lang="en-US" dirty="0" smtClean="0"/>
              <a:t> </a:t>
            </a:r>
            <a:r>
              <a:rPr lang="en-US" b="1" dirty="0" smtClean="0"/>
              <a:t>search</a:t>
            </a:r>
            <a:r>
              <a:rPr lang="en-US" dirty="0" smtClean="0"/>
              <a:t>, which attempts to find the true meaning of the user’s query and retrieve relevant information instead of simply matching keywords in the user’s query. Semantic search aims to deliver results that better fit the user’s intent, not just their exact words.</a:t>
            </a:r>
            <a:endParaRPr lang="en-US" dirty="0"/>
          </a:p>
        </p:txBody>
      </p:sp>
    </p:spTree>
    <p:extLst>
      <p:ext uri="{BB962C8B-B14F-4D97-AF65-F5344CB8AC3E}">
        <p14:creationId xmlns:p14="http://schemas.microsoft.com/office/powerpoint/2010/main" val="2292398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33456" y="1825625"/>
            <a:ext cx="9925087" cy="4351338"/>
          </a:xfrm>
          <a:prstGeom prst="rect">
            <a:avLst/>
          </a:prstGeom>
        </p:spPr>
      </p:pic>
      <p:sp>
        <p:nvSpPr>
          <p:cNvPr id="5" name="Rectangle 4"/>
          <p:cNvSpPr/>
          <p:nvPr/>
        </p:nvSpPr>
        <p:spPr>
          <a:xfrm>
            <a:off x="594360" y="1990636"/>
            <a:ext cx="6096000" cy="1200329"/>
          </a:xfrm>
          <a:prstGeom prst="rect">
            <a:avLst/>
          </a:prstGeom>
        </p:spPr>
        <p:txBody>
          <a:bodyPr>
            <a:spAutoFit/>
          </a:bodyPr>
          <a:lstStyle/>
          <a:p>
            <a:r>
              <a:rPr lang="en-US" dirty="0" smtClean="0"/>
              <a:t>This diagram shows how you make a vector database from your domain-specific, proprietary data. To create your vector database, you convert your data into vectors by running it through an embedding model.</a:t>
            </a:r>
            <a:endParaRPr lang="en-US" dirty="0"/>
          </a:p>
        </p:txBody>
      </p:sp>
    </p:spTree>
    <p:extLst>
      <p:ext uri="{BB962C8B-B14F-4D97-AF65-F5344CB8AC3E}">
        <p14:creationId xmlns:p14="http://schemas.microsoft.com/office/powerpoint/2010/main" val="1072798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smtClean="0"/>
              <a:t>An embedding model is a type of LLM that converts data into vectors: arrays, or groups, of numbers. In the above example, we’re converting user manuals containing the ground truth for operating the latest Volvo vehicle, but your data could be text, images, video, or audio.</a:t>
            </a:r>
          </a:p>
          <a:p>
            <a:r>
              <a:rPr lang="en-US" dirty="0" smtClean="0"/>
              <a:t>The most important thing to understand is that a vector represents the meaning of the input text, the same way another human would understand the essence if you spoke the text aloud. We convert our data to vectors so that computers can search for semantically similar items based on the numerical representation of the stored data.</a:t>
            </a:r>
          </a:p>
          <a:p>
            <a:r>
              <a:rPr lang="en-US" dirty="0" smtClean="0"/>
              <a:t>Next, you put the vectors into a vector database, like Pinecone. Pinecone’s vector database can search billions of items for similar matches in under a second.</a:t>
            </a:r>
          </a:p>
          <a:p>
            <a:r>
              <a:rPr lang="en-US" dirty="0" smtClean="0"/>
              <a:t>Remember that you can create vectors, ingest the vectors into the database, and update the index in real-time, solving the </a:t>
            </a:r>
            <a:r>
              <a:rPr lang="en-US" dirty="0" err="1" smtClean="0"/>
              <a:t>recency</a:t>
            </a:r>
            <a:r>
              <a:rPr lang="en-US" dirty="0" smtClean="0"/>
              <a:t> problem for the LLMs in your </a:t>
            </a:r>
            <a:r>
              <a:rPr lang="en-US" dirty="0" err="1" smtClean="0"/>
              <a:t>GenAI</a:t>
            </a:r>
            <a:r>
              <a:rPr lang="en-US" dirty="0" smtClean="0"/>
              <a:t> applications.</a:t>
            </a:r>
          </a:p>
          <a:p>
            <a:r>
              <a:rPr lang="en-US" dirty="0" smtClean="0"/>
              <a:t>For example, you can write code that automatically creates vectors for your latest product offering and then </a:t>
            </a:r>
            <a:r>
              <a:rPr lang="en-US" dirty="0" err="1" smtClean="0"/>
              <a:t>upserts</a:t>
            </a:r>
            <a:r>
              <a:rPr lang="en-US" dirty="0" smtClean="0"/>
              <a:t> them in your index each time you launch a new product. Your company’s support </a:t>
            </a:r>
            <a:r>
              <a:rPr lang="en-US" dirty="0" err="1" smtClean="0"/>
              <a:t>chatbot</a:t>
            </a:r>
            <a:r>
              <a:rPr lang="en-US" dirty="0" smtClean="0"/>
              <a:t> application can then use RAG to retrieve up-to-date information about product availability and data about the current customer it’s chatting with.</a:t>
            </a:r>
            <a:endParaRPr lang="en-US" dirty="0"/>
          </a:p>
        </p:txBody>
      </p:sp>
      <p:sp>
        <p:nvSpPr>
          <p:cNvPr id="4" name="Title 1"/>
          <p:cNvSpPr>
            <a:spLocks noGrp="1"/>
          </p:cNvSpPr>
          <p:nvPr>
            <p:ph type="title"/>
          </p:nvPr>
        </p:nvSpPr>
        <p:spPr>
          <a:xfrm>
            <a:off x="838200" y="365125"/>
            <a:ext cx="10515600" cy="1325563"/>
          </a:xfrm>
        </p:spPr>
        <p:txBody>
          <a:bodyPr/>
          <a:lstStyle/>
          <a:p>
            <a:r>
              <a:rPr lang="en-US" dirty="0" smtClean="0"/>
              <a:t>Embedding</a:t>
            </a:r>
            <a:endParaRPr lang="en-US" dirty="0"/>
          </a:p>
        </p:txBody>
      </p:sp>
    </p:spTree>
    <p:extLst>
      <p:ext uri="{BB962C8B-B14F-4D97-AF65-F5344CB8AC3E}">
        <p14:creationId xmlns:p14="http://schemas.microsoft.com/office/powerpoint/2010/main" val="3099229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Semantic Search</a:t>
            </a:r>
            <a:endParaRPr lang="en-US" dirty="0"/>
          </a:p>
        </p:txBody>
      </p:sp>
      <p:sp>
        <p:nvSpPr>
          <p:cNvPr id="3" name="Content Placeholder 2"/>
          <p:cNvSpPr>
            <a:spLocks noGrp="1"/>
          </p:cNvSpPr>
          <p:nvPr>
            <p:ph idx="1"/>
          </p:nvPr>
        </p:nvSpPr>
        <p:spPr/>
        <p:txBody>
          <a:bodyPr>
            <a:normAutofit/>
          </a:bodyPr>
          <a:lstStyle/>
          <a:p>
            <a:r>
              <a:rPr lang="en-US" dirty="0" smtClean="0"/>
              <a:t>Vector databases allow you to query data using natural language, which is ideal for chat interfaces.</a:t>
            </a:r>
          </a:p>
          <a:p>
            <a:r>
              <a:rPr lang="en-US" dirty="0" smtClean="0"/>
              <a:t>Now that your vector database contains numerical representations of your target data, you can perform a </a:t>
            </a:r>
            <a:r>
              <a:rPr lang="en-US" b="1" dirty="0" smtClean="0"/>
              <a:t>semantic search</a:t>
            </a:r>
            <a:r>
              <a:rPr lang="en-US" dirty="0" smtClean="0"/>
              <a:t>. Vector databases shine in semantic search use cases because end users form queries with ambiguous natural language.</a:t>
            </a:r>
          </a:p>
          <a:p>
            <a:r>
              <a:rPr lang="en-US" b="1" dirty="0" smtClean="0"/>
              <a:t>Semantic search works by converting the user’s query into </a:t>
            </a:r>
            <a:r>
              <a:rPr lang="en-US" b="1" dirty="0" err="1" smtClean="0"/>
              <a:t>embeddings</a:t>
            </a:r>
            <a:r>
              <a:rPr lang="en-US" b="1" dirty="0" smtClean="0"/>
              <a:t> and using a vector database to search for similar entries</a:t>
            </a:r>
            <a:r>
              <a:rPr lang="en-US" dirty="0" smtClean="0"/>
              <a:t>.</a:t>
            </a:r>
          </a:p>
        </p:txBody>
      </p:sp>
    </p:spTree>
    <p:extLst>
      <p:ext uri="{BB962C8B-B14F-4D97-AF65-F5344CB8AC3E}">
        <p14:creationId xmlns:p14="http://schemas.microsoft.com/office/powerpoint/2010/main" val="3618345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0" y="329435"/>
            <a:ext cx="12192000" cy="5824592"/>
          </a:xfrm>
          <a:prstGeom prst="rect">
            <a:avLst/>
          </a:prstGeom>
        </p:spPr>
      </p:pic>
    </p:spTree>
    <p:extLst>
      <p:ext uri="{BB962C8B-B14F-4D97-AF65-F5344CB8AC3E}">
        <p14:creationId xmlns:p14="http://schemas.microsoft.com/office/powerpoint/2010/main" val="3098521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You originally converted your proprietary data into </a:t>
            </a:r>
            <a:r>
              <a:rPr lang="en-US" dirty="0" err="1" smtClean="0"/>
              <a:t>embeddings</a:t>
            </a:r>
            <a:r>
              <a:rPr lang="en-US" dirty="0" smtClean="0"/>
              <a:t>. When the user issues a query or question, you translate their natural language search terms into </a:t>
            </a:r>
            <a:r>
              <a:rPr lang="en-US" dirty="0" err="1" smtClean="0"/>
              <a:t>embeddings</a:t>
            </a:r>
            <a:r>
              <a:rPr lang="en-US" dirty="0" smtClean="0"/>
              <a:t>.</a:t>
            </a:r>
          </a:p>
          <a:p>
            <a:r>
              <a:rPr lang="en-US" dirty="0" smtClean="0"/>
              <a:t>You send these </a:t>
            </a:r>
            <a:r>
              <a:rPr lang="en-US" dirty="0" err="1" smtClean="0"/>
              <a:t>embeddings</a:t>
            </a:r>
            <a:r>
              <a:rPr lang="en-US" dirty="0" smtClean="0"/>
              <a:t> to the vector database. The database performs a “nearest neighbor” search, finding the vectors that most closely resemble the user’s intent. When the vector database returns the relevant results, your application provides them to the LLM via its context window, prompting it to perform its generative task.</a:t>
            </a:r>
            <a:endParaRPr lang="en-US" dirty="0"/>
          </a:p>
        </p:txBody>
      </p:sp>
    </p:spTree>
    <p:extLst>
      <p:ext uri="{BB962C8B-B14F-4D97-AF65-F5344CB8AC3E}">
        <p14:creationId xmlns:p14="http://schemas.microsoft.com/office/powerpoint/2010/main" val="1545591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07229" y="0"/>
            <a:ext cx="9977541" cy="6858000"/>
          </a:xfrm>
          <a:prstGeom prst="rect">
            <a:avLst/>
          </a:prstGeom>
        </p:spPr>
      </p:pic>
    </p:spTree>
    <p:extLst>
      <p:ext uri="{BB962C8B-B14F-4D97-AF65-F5344CB8AC3E}">
        <p14:creationId xmlns:p14="http://schemas.microsoft.com/office/powerpoint/2010/main" val="4206572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 databases </a:t>
            </a:r>
            <a:endParaRPr lang="en-US" dirty="0"/>
          </a:p>
        </p:txBody>
      </p:sp>
      <p:sp>
        <p:nvSpPr>
          <p:cNvPr id="3" name="Content Placeholder 2"/>
          <p:cNvSpPr>
            <a:spLocks noGrp="1"/>
          </p:cNvSpPr>
          <p:nvPr>
            <p:ph idx="1"/>
          </p:nvPr>
        </p:nvSpPr>
        <p:spPr/>
        <p:txBody>
          <a:bodyPr>
            <a:normAutofit fontScale="92500"/>
          </a:bodyPr>
          <a:lstStyle/>
          <a:p>
            <a:r>
              <a:rPr lang="en-US" dirty="0" smtClean="0"/>
              <a:t>Vector databases can support even more advanced search functionality</a:t>
            </a:r>
          </a:p>
          <a:p>
            <a:r>
              <a:rPr lang="en-US" dirty="0" smtClean="0"/>
              <a:t>Semantic search is powerful, but it’s possible to go even further. For example, </a:t>
            </a:r>
            <a:r>
              <a:rPr lang="en-US" b="1" dirty="0" smtClean="0"/>
              <a:t>Pinecone’s</a:t>
            </a:r>
            <a:r>
              <a:rPr lang="en-US" dirty="0" smtClean="0"/>
              <a:t> vector database supports hybrid search functionality, </a:t>
            </a:r>
            <a:r>
              <a:rPr lang="en-US" b="1" dirty="0" smtClean="0"/>
              <a:t>a retrieval system that considers the query's semantics and keywords</a:t>
            </a:r>
            <a:r>
              <a:rPr lang="en-US" dirty="0" smtClean="0"/>
              <a:t>.</a:t>
            </a:r>
          </a:p>
          <a:p>
            <a:r>
              <a:rPr lang="en-US" dirty="0" smtClean="0">
                <a:solidFill>
                  <a:srgbClr val="FF0000"/>
                </a:solidFill>
              </a:rPr>
              <a:t>It must be noted that there are many vector databases available. Pinecone is not the only one. </a:t>
            </a:r>
            <a:endParaRPr lang="en-US" dirty="0">
              <a:solidFill>
                <a:srgbClr val="FF0000"/>
              </a:solidFill>
            </a:endParaRPr>
          </a:p>
          <a:p>
            <a:r>
              <a:rPr lang="en-US" dirty="0" smtClean="0">
                <a:solidFill>
                  <a:srgbClr val="FF0000"/>
                </a:solidFill>
              </a:rPr>
              <a:t>On a higher level, there are two types of vector databases – </a:t>
            </a:r>
            <a:r>
              <a:rPr lang="en-US" dirty="0" err="1" smtClean="0">
                <a:solidFill>
                  <a:srgbClr val="FF0000"/>
                </a:solidFill>
              </a:rPr>
              <a:t>inmemory</a:t>
            </a:r>
            <a:r>
              <a:rPr lang="en-US" dirty="0" smtClean="0">
                <a:solidFill>
                  <a:srgbClr val="FF0000"/>
                </a:solidFill>
              </a:rPr>
              <a:t> and external.</a:t>
            </a:r>
          </a:p>
          <a:p>
            <a:r>
              <a:rPr lang="en-US" dirty="0" smtClean="0">
                <a:solidFill>
                  <a:srgbClr val="FF0000"/>
                </a:solidFill>
              </a:rPr>
              <a:t>In </a:t>
            </a:r>
            <a:r>
              <a:rPr lang="en-US" b="1" dirty="0" smtClean="0">
                <a:solidFill>
                  <a:srgbClr val="FF0000"/>
                </a:solidFill>
              </a:rPr>
              <a:t>memory</a:t>
            </a:r>
            <a:r>
              <a:rPr lang="en-US" dirty="0" smtClean="0">
                <a:solidFill>
                  <a:srgbClr val="FF0000"/>
                </a:solidFill>
              </a:rPr>
              <a:t> – such as </a:t>
            </a:r>
            <a:r>
              <a:rPr lang="en-US" dirty="0" err="1" smtClean="0">
                <a:solidFill>
                  <a:srgbClr val="FF0000"/>
                </a:solidFill>
              </a:rPr>
              <a:t>Faiss</a:t>
            </a:r>
            <a:r>
              <a:rPr lang="en-US" dirty="0" smtClean="0">
                <a:solidFill>
                  <a:srgbClr val="FF0000"/>
                </a:solidFill>
              </a:rPr>
              <a:t> – remains in the same server.</a:t>
            </a:r>
          </a:p>
          <a:p>
            <a:r>
              <a:rPr lang="en-US" b="1" dirty="0" smtClean="0">
                <a:solidFill>
                  <a:srgbClr val="FF0000"/>
                </a:solidFill>
              </a:rPr>
              <a:t>External</a:t>
            </a:r>
            <a:r>
              <a:rPr lang="en-US" dirty="0" smtClean="0">
                <a:solidFill>
                  <a:srgbClr val="FF0000"/>
                </a:solidFill>
              </a:rPr>
              <a:t> – like pinecone – remains in an external database.</a:t>
            </a:r>
            <a:endParaRPr lang="en-US" dirty="0">
              <a:solidFill>
                <a:srgbClr val="FF0000"/>
              </a:solidFill>
            </a:endParaRPr>
          </a:p>
        </p:txBody>
      </p:sp>
    </p:spTree>
    <p:extLst>
      <p:ext uri="{BB962C8B-B14F-4D97-AF65-F5344CB8AC3E}">
        <p14:creationId xmlns:p14="http://schemas.microsoft.com/office/powerpoint/2010/main" val="1513298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RAG</a:t>
            </a:r>
            <a:endParaRPr lang="en-US" dirty="0"/>
          </a:p>
        </p:txBody>
      </p:sp>
      <p:sp>
        <p:nvSpPr>
          <p:cNvPr id="3" name="Content Placeholder 2"/>
          <p:cNvSpPr>
            <a:spLocks noGrp="1"/>
          </p:cNvSpPr>
          <p:nvPr>
            <p:ph idx="1"/>
          </p:nvPr>
        </p:nvSpPr>
        <p:spPr/>
        <p:txBody>
          <a:bodyPr>
            <a:normAutofit/>
          </a:bodyPr>
          <a:lstStyle/>
          <a:p>
            <a:r>
              <a:rPr lang="en-US" dirty="0" smtClean="0"/>
              <a:t>RAG is the most </a:t>
            </a:r>
            <a:r>
              <a:rPr lang="en-US" b="1" dirty="0" smtClean="0"/>
              <a:t>cost-effective,</a:t>
            </a:r>
            <a:r>
              <a:rPr lang="en-US" dirty="0" smtClean="0"/>
              <a:t> easy to implement, and lowest-risk path to higher performance for </a:t>
            </a:r>
            <a:r>
              <a:rPr lang="en-US" dirty="0" err="1" smtClean="0"/>
              <a:t>GenAI</a:t>
            </a:r>
            <a:r>
              <a:rPr lang="en-US" dirty="0" smtClean="0"/>
              <a:t> applications.</a:t>
            </a:r>
          </a:p>
          <a:p>
            <a:r>
              <a:rPr lang="en-US" dirty="0" smtClean="0"/>
              <a:t>Semantic search and Retrieval Augmented Generation provide more relevant </a:t>
            </a:r>
            <a:r>
              <a:rPr lang="en-US" dirty="0" err="1" smtClean="0"/>
              <a:t>GenAI</a:t>
            </a:r>
            <a:r>
              <a:rPr lang="en-US" dirty="0" smtClean="0"/>
              <a:t> responses, translating to a superior experience for end-users. </a:t>
            </a:r>
            <a:r>
              <a:rPr lang="en-US" b="1" dirty="0" smtClean="0"/>
              <a:t>Unlike building your foundation model, fine-tuning an existing model, or solely performing prompt engineering, RAG simultaneously addresses </a:t>
            </a:r>
            <a:r>
              <a:rPr lang="en-US" b="1" dirty="0" err="1" smtClean="0"/>
              <a:t>recency</a:t>
            </a:r>
            <a:r>
              <a:rPr lang="en-US" b="1" dirty="0" smtClean="0"/>
              <a:t> and context-specific issues cost-effectively </a:t>
            </a:r>
            <a:r>
              <a:rPr lang="en-US" dirty="0" smtClean="0"/>
              <a:t>and with lower risk than alternative approaches.</a:t>
            </a:r>
          </a:p>
          <a:p>
            <a:r>
              <a:rPr lang="en-US" dirty="0" smtClean="0"/>
              <a:t>Its </a:t>
            </a:r>
            <a:r>
              <a:rPr lang="en-US" b="1" dirty="0" smtClean="0"/>
              <a:t>primary purpose is to provide context-sensitive, detailed answers</a:t>
            </a:r>
            <a:r>
              <a:rPr lang="en-US" dirty="0" smtClean="0"/>
              <a:t> to questions that require access to private data to answer correctly.</a:t>
            </a:r>
          </a:p>
        </p:txBody>
      </p:sp>
    </p:spTree>
    <p:extLst>
      <p:ext uri="{BB962C8B-B14F-4D97-AF65-F5344CB8AC3E}">
        <p14:creationId xmlns:p14="http://schemas.microsoft.com/office/powerpoint/2010/main" val="3497914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ReRankers</a:t>
            </a:r>
            <a:endParaRPr lang="en-US" dirty="0"/>
          </a:p>
        </p:txBody>
      </p:sp>
      <p:sp>
        <p:nvSpPr>
          <p:cNvPr id="3" name="Content Placeholder 2"/>
          <p:cNvSpPr>
            <a:spLocks noGrp="1"/>
          </p:cNvSpPr>
          <p:nvPr>
            <p:ph idx="1"/>
          </p:nvPr>
        </p:nvSpPr>
        <p:spPr/>
        <p:txBody>
          <a:bodyPr>
            <a:normAutofit/>
          </a:bodyPr>
          <a:lstStyle/>
          <a:p>
            <a:r>
              <a:rPr lang="en-US" dirty="0"/>
              <a:t>Using a </a:t>
            </a:r>
            <a:r>
              <a:rPr lang="en-US" dirty="0" err="1"/>
              <a:t>reranker</a:t>
            </a:r>
            <a:r>
              <a:rPr lang="en-US" dirty="0"/>
              <a:t> allows for </a:t>
            </a:r>
            <a:r>
              <a:rPr lang="en-US" b="1" dirty="0"/>
              <a:t>further refinement of retrieved documents during search, increasing relevance to user queries</a:t>
            </a:r>
            <a:r>
              <a:rPr lang="en-US" dirty="0"/>
              <a:t>.</a:t>
            </a:r>
          </a:p>
          <a:p>
            <a:r>
              <a:rPr lang="en-US" dirty="0"/>
              <a:t>In most cases, </a:t>
            </a:r>
            <a:r>
              <a:rPr lang="en-US" dirty="0" err="1"/>
              <a:t>rerankers</a:t>
            </a:r>
            <a:r>
              <a:rPr lang="en-US" dirty="0"/>
              <a:t> require only a few lines of code and a bit of </a:t>
            </a:r>
            <a:r>
              <a:rPr lang="en-US" b="1" dirty="0"/>
              <a:t>latency</a:t>
            </a:r>
            <a:r>
              <a:rPr lang="en-US" dirty="0"/>
              <a:t> in exchange </a:t>
            </a:r>
            <a:r>
              <a:rPr lang="en-US" b="1" dirty="0"/>
              <a:t>for significantly more relevant </a:t>
            </a:r>
            <a:r>
              <a:rPr lang="en-US" b="1" dirty="0" smtClean="0"/>
              <a:t>results</a:t>
            </a:r>
            <a:r>
              <a:rPr lang="en-US" dirty="0" smtClean="0"/>
              <a:t>.</a:t>
            </a:r>
          </a:p>
          <a:p>
            <a:r>
              <a:rPr lang="en-US" dirty="0" smtClean="0"/>
              <a:t>Improving retrieval quality </a:t>
            </a:r>
            <a:r>
              <a:rPr lang="en-US" b="1" dirty="0" smtClean="0"/>
              <a:t>can be difficult when building vector search or retrieval augmented generation (RAG) at scale as they introduce some latency</a:t>
            </a:r>
            <a:r>
              <a:rPr lang="en-US" dirty="0" smtClean="0"/>
              <a:t>. </a:t>
            </a:r>
          </a:p>
        </p:txBody>
      </p:sp>
    </p:spTree>
    <p:extLst>
      <p:ext uri="{BB962C8B-B14F-4D97-AF65-F5344CB8AC3E}">
        <p14:creationId xmlns:p14="http://schemas.microsoft.com/office/powerpoint/2010/main" val="2634762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685800"/>
            <a:ext cx="12055166" cy="6858000"/>
          </a:xfrm>
          <a:prstGeom prst="rect">
            <a:avLst/>
          </a:prstGeom>
        </p:spPr>
      </p:pic>
    </p:spTree>
    <p:extLst>
      <p:ext uri="{BB962C8B-B14F-4D97-AF65-F5344CB8AC3E}">
        <p14:creationId xmlns:p14="http://schemas.microsoft.com/office/powerpoint/2010/main" val="737301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56360" y="302895"/>
            <a:ext cx="8763000" cy="5810250"/>
          </a:xfrm>
          <a:prstGeom prst="rect">
            <a:avLst/>
          </a:prstGeom>
        </p:spPr>
      </p:pic>
    </p:spTree>
    <p:extLst>
      <p:ext uri="{BB962C8B-B14F-4D97-AF65-F5344CB8AC3E}">
        <p14:creationId xmlns:p14="http://schemas.microsoft.com/office/powerpoint/2010/main" val="2380608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ReRankers</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Using a </a:t>
            </a:r>
            <a:r>
              <a:rPr lang="en-US" dirty="0" err="1" smtClean="0"/>
              <a:t>reranker</a:t>
            </a:r>
            <a:r>
              <a:rPr lang="en-US" dirty="0" smtClean="0"/>
              <a:t> in your search pipeline has a few </a:t>
            </a:r>
            <a:r>
              <a:rPr lang="en-US" b="1" dirty="0" smtClean="0"/>
              <a:t>benefits</a:t>
            </a:r>
            <a:r>
              <a:rPr lang="en-US" dirty="0" smtClean="0"/>
              <a:t>:</a:t>
            </a:r>
          </a:p>
          <a:p>
            <a:r>
              <a:rPr lang="en-US" b="1" dirty="0" smtClean="0"/>
              <a:t>Increases Recall</a:t>
            </a:r>
            <a:r>
              <a:rPr lang="en-US" dirty="0" smtClean="0"/>
              <a:t>: When using the same number of returned documents, </a:t>
            </a:r>
            <a:r>
              <a:rPr lang="en-US" dirty="0" err="1" smtClean="0"/>
              <a:t>reranked</a:t>
            </a:r>
            <a:r>
              <a:rPr lang="en-US" dirty="0" smtClean="0"/>
              <a:t> results often contain more relevant output than when using semantic search alone.</a:t>
            </a:r>
          </a:p>
          <a:p>
            <a:r>
              <a:rPr lang="en-US" b="1" dirty="0" smtClean="0"/>
              <a:t>Increases Precision</a:t>
            </a:r>
            <a:r>
              <a:rPr lang="en-US" dirty="0" smtClean="0"/>
              <a:t>: As relevance scoring happens during query time, it contextualizes the query and initial set of retrieved documents. This new ordering ensures the most relevant documents are prioritized.</a:t>
            </a:r>
          </a:p>
          <a:p>
            <a:r>
              <a:rPr lang="en-US" b="1" dirty="0" smtClean="0"/>
              <a:t>Improves User Experience</a:t>
            </a:r>
            <a:r>
              <a:rPr lang="en-US" dirty="0" smtClean="0"/>
              <a:t>: Having a tractable number of highly relevant results reduces the time to benefit from the search for the user, impacting churn/conversion metrics.</a:t>
            </a:r>
            <a:endParaRPr lang="en-US" dirty="0"/>
          </a:p>
        </p:txBody>
      </p:sp>
    </p:spTree>
    <p:extLst>
      <p:ext uri="{BB962C8B-B14F-4D97-AF65-F5344CB8AC3E}">
        <p14:creationId xmlns:p14="http://schemas.microsoft.com/office/powerpoint/2010/main" val="3670613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396347"/>
            <a:ext cx="12192000" cy="6065305"/>
          </a:xfrm>
          <a:prstGeom prst="rect">
            <a:avLst/>
          </a:prstGeom>
        </p:spPr>
      </p:pic>
    </p:spTree>
    <p:extLst>
      <p:ext uri="{BB962C8B-B14F-4D97-AF65-F5344CB8AC3E}">
        <p14:creationId xmlns:p14="http://schemas.microsoft.com/office/powerpoint/2010/main" val="3606557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GraphRAG</a:t>
            </a:r>
            <a:r>
              <a:rPr lang="en-US" dirty="0" smtClean="0"/>
              <a:t>: A Step Forward</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While </a:t>
            </a:r>
            <a:r>
              <a:rPr lang="en-US" b="1" dirty="0" smtClean="0"/>
              <a:t>RAG</a:t>
            </a:r>
            <a:r>
              <a:rPr lang="en-US" dirty="0" smtClean="0"/>
              <a:t> marked a significant advancement in AI systems' ability to access and utilize external knowledge, it's not without limitations. RAG is really good at finding relevant documents, </a:t>
            </a:r>
            <a:r>
              <a:rPr lang="en-US" b="1" dirty="0" smtClean="0"/>
              <a:t>but it often struggles to capture and leverage the intricate web of relationships between different pieces of information</a:t>
            </a:r>
            <a:r>
              <a:rPr lang="en-US" dirty="0" smtClean="0"/>
              <a:t>.</a:t>
            </a:r>
          </a:p>
          <a:p>
            <a:r>
              <a:rPr lang="en-US" dirty="0" err="1" smtClean="0"/>
              <a:t>GraphRAG</a:t>
            </a:r>
            <a:r>
              <a:rPr lang="en-US" dirty="0" smtClean="0"/>
              <a:t>, a new concept that emerged in the industry following publications from researchers at companies such as </a:t>
            </a:r>
            <a:r>
              <a:rPr lang="en-US" b="1" dirty="0" smtClean="0"/>
              <a:t>Microsoft Research and Neo4j</a:t>
            </a:r>
            <a:r>
              <a:rPr lang="en-US" dirty="0" smtClean="0"/>
              <a:t>, aims to address these shortcomings by </a:t>
            </a:r>
            <a:r>
              <a:rPr lang="en-US" b="1" dirty="0" smtClean="0"/>
              <a:t>representing knowledge as a graph structure</a:t>
            </a:r>
            <a:r>
              <a:rPr lang="en-US" dirty="0" smtClean="0"/>
              <a:t>. </a:t>
            </a:r>
          </a:p>
          <a:p>
            <a:r>
              <a:rPr lang="en-US" dirty="0" smtClean="0"/>
              <a:t>The approaches to </a:t>
            </a:r>
            <a:r>
              <a:rPr lang="en-US" dirty="0" err="1" smtClean="0"/>
              <a:t>GraphRAG</a:t>
            </a:r>
            <a:r>
              <a:rPr lang="en-US" dirty="0" smtClean="0"/>
              <a:t> are evolving as well, and as this bleeding-edge field continues to progress, we are bound to see many types of implementations of the same concept.</a:t>
            </a:r>
          </a:p>
        </p:txBody>
      </p:sp>
    </p:spTree>
    <p:extLst>
      <p:ext uri="{BB962C8B-B14F-4D97-AF65-F5344CB8AC3E}">
        <p14:creationId xmlns:p14="http://schemas.microsoft.com/office/powerpoint/2010/main" val="2773066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LLM-centric </a:t>
            </a:r>
            <a:r>
              <a:rPr lang="en-US" dirty="0" err="1" smtClean="0"/>
              <a:t>GraphRAG</a:t>
            </a:r>
            <a:r>
              <a:rPr lang="en-US" dirty="0" smtClean="0"/>
              <a:t> Approach</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Represent knowledge as a graph: </a:t>
            </a:r>
            <a:r>
              <a:rPr lang="en-US" b="1" dirty="0" smtClean="0"/>
              <a:t>Instead of treating documents as isolated bags of words, </a:t>
            </a:r>
            <a:r>
              <a:rPr lang="en-US" b="1" dirty="0" err="1" smtClean="0"/>
              <a:t>GraphRAG</a:t>
            </a:r>
            <a:r>
              <a:rPr lang="en-US" b="1" dirty="0" smtClean="0"/>
              <a:t> captures entities and their relationships</a:t>
            </a:r>
            <a:r>
              <a:rPr lang="en-US" dirty="0" smtClean="0"/>
              <a:t>. </a:t>
            </a:r>
            <a:r>
              <a:rPr lang="en-US" b="1" dirty="0" smtClean="0"/>
              <a:t>This mimics how humans often think about and connect information</a:t>
            </a:r>
            <a:r>
              <a:rPr lang="en-US" dirty="0" smtClean="0"/>
              <a:t>.</a:t>
            </a:r>
          </a:p>
          <a:p>
            <a:r>
              <a:rPr lang="en-US" b="1" dirty="0" smtClean="0"/>
              <a:t>Enable multi-hop reasoning: </a:t>
            </a:r>
            <a:r>
              <a:rPr lang="en-US" b="1" dirty="0" err="1" smtClean="0"/>
              <a:t>GraphRAG</a:t>
            </a:r>
            <a:r>
              <a:rPr lang="en-US" b="1" dirty="0" smtClean="0"/>
              <a:t> can follow a chain of relationships to answer complex queries by representing knowledge as a graph. This allows for more sophisticated reasoning that goes beyond simple document retrieval.</a:t>
            </a:r>
          </a:p>
          <a:p>
            <a:r>
              <a:rPr lang="en-US" dirty="0" smtClean="0"/>
              <a:t>Provide more contextually relevant results: The graph structure allows the system to better understand the context of information, leading to more nuanced and relevant responses.</a:t>
            </a:r>
          </a:p>
          <a:p>
            <a:r>
              <a:rPr lang="en-US" dirty="0" smtClean="0"/>
              <a:t>Combine structured and unstructured data: </a:t>
            </a:r>
            <a:r>
              <a:rPr lang="en-US" dirty="0" err="1" smtClean="0"/>
              <a:t>GraphRAG</a:t>
            </a:r>
            <a:r>
              <a:rPr lang="en-US" dirty="0" smtClean="0"/>
              <a:t> can integrate traditional knowledge bases with unstructured text, creating a more comprehensive knowledge representation.</a:t>
            </a:r>
          </a:p>
          <a:p>
            <a:r>
              <a:rPr lang="en-US" dirty="0" smtClean="0"/>
              <a:t>Improve </a:t>
            </a:r>
            <a:r>
              <a:rPr lang="en-US" dirty="0" err="1" smtClean="0"/>
              <a:t>explainability</a:t>
            </a:r>
            <a:r>
              <a:rPr lang="en-US" dirty="0" smtClean="0"/>
              <a:t>: The graph structure makes it easier to trace the reasoning process, potentially improving the system's transparency and trustworthiness.</a:t>
            </a:r>
            <a:endParaRPr lang="en-US" dirty="0"/>
          </a:p>
        </p:txBody>
      </p:sp>
    </p:spTree>
    <p:extLst>
      <p:ext uri="{BB962C8B-B14F-4D97-AF65-F5344CB8AC3E}">
        <p14:creationId xmlns:p14="http://schemas.microsoft.com/office/powerpoint/2010/main" val="3354012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GraphRAG</a:t>
            </a:r>
            <a:r>
              <a:rPr lang="en-US" dirty="0" smtClean="0"/>
              <a:t> Use Cases</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err="1" smtClean="0"/>
              <a:t>GraphRAG</a:t>
            </a:r>
            <a:r>
              <a:rPr lang="en-US" dirty="0" smtClean="0"/>
              <a:t> can be used for a variety of use cases, such as:</a:t>
            </a:r>
          </a:p>
          <a:p>
            <a:r>
              <a:rPr lang="en-US" b="1" dirty="0" smtClean="0"/>
              <a:t>Medical Diagnosis and Treatment Planning </a:t>
            </a:r>
            <a:r>
              <a:rPr lang="en-US" dirty="0" smtClean="0"/>
              <a:t>- </a:t>
            </a:r>
            <a:r>
              <a:rPr lang="en-US" dirty="0" err="1" smtClean="0"/>
              <a:t>GraphRAG</a:t>
            </a:r>
            <a:r>
              <a:rPr lang="en-US" dirty="0" smtClean="0"/>
              <a:t> could enhance medical diagnosis by representing </a:t>
            </a:r>
            <a:r>
              <a:rPr lang="en-US" b="1" dirty="0" smtClean="0"/>
              <a:t>relationships between symptoms, diseases, and treatments as a network</a:t>
            </a:r>
            <a:r>
              <a:rPr lang="en-US" dirty="0" smtClean="0"/>
              <a:t>. When a </a:t>
            </a:r>
            <a:r>
              <a:rPr lang="en-US" b="1" dirty="0" smtClean="0"/>
              <a:t>doctor inputs symptoms, it searches medical literature for relevant information</a:t>
            </a:r>
            <a:r>
              <a:rPr lang="en-US" dirty="0" smtClean="0"/>
              <a:t>. This combination of structured medical knowledge and intelligent retrieval could help doctors uncover complex diagnostic pathways, rare conditions, or unexpected treatment interactions that might otherwise be missed.</a:t>
            </a:r>
          </a:p>
          <a:p>
            <a:r>
              <a:rPr lang="en-US" b="1" dirty="0" smtClean="0"/>
              <a:t>Financial Fraud Detection </a:t>
            </a:r>
            <a:r>
              <a:rPr lang="en-US" dirty="0" smtClean="0"/>
              <a:t>- </a:t>
            </a:r>
            <a:r>
              <a:rPr lang="en-US" dirty="0" err="1" smtClean="0"/>
              <a:t>GraphRAG</a:t>
            </a:r>
            <a:r>
              <a:rPr lang="en-US" dirty="0" smtClean="0"/>
              <a:t> could model the </a:t>
            </a:r>
            <a:r>
              <a:rPr lang="en-US" b="1" dirty="0" smtClean="0"/>
              <a:t>financial ecosystem as a network of accounts</a:t>
            </a:r>
            <a:r>
              <a:rPr lang="en-US" dirty="0" smtClean="0"/>
              <a:t>, </a:t>
            </a:r>
            <a:r>
              <a:rPr lang="en-US" b="1" dirty="0" smtClean="0"/>
              <a:t>individuals, and transactions</a:t>
            </a:r>
            <a:r>
              <a:rPr lang="en-US" dirty="0" smtClean="0"/>
              <a:t>. When investigating </a:t>
            </a:r>
            <a:r>
              <a:rPr lang="en-US" b="1" dirty="0" smtClean="0"/>
              <a:t>potential fraud, it retrieves relevant records and patterns</a:t>
            </a:r>
            <a:r>
              <a:rPr lang="en-US" dirty="0" smtClean="0"/>
              <a:t>. By combining structured financial data representation with AI-driven query generation, analysts could trace fund flows, identify shell companies, or uncover coordinated fraudulent activities that might be hidden in traditional analysis.</a:t>
            </a:r>
          </a:p>
          <a:p>
            <a:r>
              <a:rPr lang="en-US" b="1" dirty="0" smtClean="0"/>
              <a:t>Supply Chain Optimization </a:t>
            </a:r>
            <a:r>
              <a:rPr lang="en-US" dirty="0" smtClean="0"/>
              <a:t>- </a:t>
            </a:r>
            <a:r>
              <a:rPr lang="en-US" dirty="0" err="1" smtClean="0"/>
              <a:t>GraphRAG</a:t>
            </a:r>
            <a:r>
              <a:rPr lang="en-US" dirty="0" smtClean="0"/>
              <a:t> could represent the </a:t>
            </a:r>
            <a:r>
              <a:rPr lang="en-US" b="1" dirty="0" smtClean="0"/>
              <a:t>network of suppliers, manufacturers, and distributors</a:t>
            </a:r>
            <a:r>
              <a:rPr lang="en-US" dirty="0" smtClean="0"/>
              <a:t>. When optimizing processes, it retrieves </a:t>
            </a:r>
            <a:r>
              <a:rPr lang="en-US" b="1" dirty="0" smtClean="0"/>
              <a:t>relevant supplier information and market trends</a:t>
            </a:r>
            <a:r>
              <a:rPr lang="en-US" dirty="0" smtClean="0"/>
              <a:t>. This approach </a:t>
            </a:r>
            <a:r>
              <a:rPr lang="en-US" b="1" dirty="0" smtClean="0"/>
              <a:t>could quickly identify bottlenecks, optimize routes, or find alternative suppliers during disruptions</a:t>
            </a:r>
            <a:r>
              <a:rPr lang="en-US" dirty="0" smtClean="0"/>
              <a:t>. Integrating structured supply chain representation with flexible analysis could provide insights for more resilient and efficient operations in complex global markets.</a:t>
            </a:r>
            <a:endParaRPr lang="en-US" dirty="0"/>
          </a:p>
        </p:txBody>
      </p:sp>
    </p:spTree>
    <p:extLst>
      <p:ext uri="{BB962C8B-B14F-4D97-AF65-F5344CB8AC3E}">
        <p14:creationId xmlns:p14="http://schemas.microsoft.com/office/powerpoint/2010/main" val="4261358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The Limitations of the LLM centric </a:t>
            </a:r>
            <a:r>
              <a:rPr lang="en-US" dirty="0" err="1" smtClean="0"/>
              <a:t>GraphRAG</a:t>
            </a:r>
            <a:r>
              <a:rPr lang="en-US" dirty="0" smtClean="0"/>
              <a:t> Approaches</a:t>
            </a:r>
            <a:endParaRPr lang="en-US" dirty="0"/>
          </a:p>
        </p:txBody>
      </p:sp>
      <p:sp>
        <p:nvSpPr>
          <p:cNvPr id="3" name="Content Placeholder 2"/>
          <p:cNvSpPr>
            <a:spLocks noGrp="1"/>
          </p:cNvSpPr>
          <p:nvPr>
            <p:ph idx="1"/>
          </p:nvPr>
        </p:nvSpPr>
        <p:spPr/>
        <p:txBody>
          <a:bodyPr>
            <a:normAutofit/>
          </a:bodyPr>
          <a:lstStyle/>
          <a:p>
            <a:r>
              <a:rPr lang="en-US" dirty="0" smtClean="0"/>
              <a:t>LLM-Dependent Graph Construction: </a:t>
            </a:r>
            <a:r>
              <a:rPr lang="en-US" dirty="0" err="1" smtClean="0"/>
              <a:t>GraphRAG</a:t>
            </a:r>
            <a:r>
              <a:rPr lang="en-US" dirty="0" smtClean="0"/>
              <a:t> typically relies on the LLM to construct the knowledge graph. This approach can lead to:</a:t>
            </a:r>
          </a:p>
          <a:p>
            <a:pPr lvl="1"/>
            <a:r>
              <a:rPr lang="en-US" dirty="0" smtClean="0"/>
              <a:t>Inconsistencies in the graph structure</a:t>
            </a:r>
          </a:p>
          <a:p>
            <a:pPr lvl="1"/>
            <a:r>
              <a:rPr lang="en-US" dirty="0" smtClean="0"/>
              <a:t>Propagation of LLM biases or errors in the knowledge representation</a:t>
            </a:r>
          </a:p>
          <a:p>
            <a:pPr lvl="1"/>
            <a:r>
              <a:rPr lang="en-US" dirty="0" smtClean="0"/>
              <a:t>Scalability Issues: As the graph grows, the complexity of queries and the computational resources required can increase significantly.</a:t>
            </a:r>
          </a:p>
        </p:txBody>
      </p:sp>
    </p:spTree>
    <p:extLst>
      <p:ext uri="{BB962C8B-B14F-4D97-AF65-F5344CB8AC3E}">
        <p14:creationId xmlns:p14="http://schemas.microsoft.com/office/powerpoint/2010/main" val="30481452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path towards agentic graph exploration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At its core, there are four key components:</a:t>
            </a:r>
          </a:p>
          <a:p>
            <a:r>
              <a:rPr lang="en-US" dirty="0" smtClean="0"/>
              <a:t>Document Database (DDB): Serves as the foundation, storing raw, unstructured data - the actual content of documents, articles, or any other text-based information.</a:t>
            </a:r>
          </a:p>
          <a:p>
            <a:r>
              <a:rPr lang="en-US" dirty="0" smtClean="0"/>
              <a:t>Vector Database (VDB): Creates high-dimensional vector representations of documents, enabling semantic searches and finding conceptually similar content (The vector database relies on the use of an embedding model, of course)</a:t>
            </a:r>
          </a:p>
          <a:p>
            <a:r>
              <a:rPr lang="en-US" dirty="0" smtClean="0"/>
              <a:t>Graph Database (GDB): This type of database represents entities (like people, places, or other concepts) as nodes and the relationships between them as edges, allowing for complex queries about interconnected information.</a:t>
            </a:r>
          </a:p>
          <a:p>
            <a:r>
              <a:rPr lang="en-US" dirty="0" smtClean="0"/>
              <a:t>LLM - the LLM performs summarization and graph </a:t>
            </a:r>
            <a:r>
              <a:rPr lang="en-US" smtClean="0"/>
              <a:t>query generation.</a:t>
            </a:r>
            <a:endParaRPr lang="en-US" dirty="0"/>
          </a:p>
        </p:txBody>
      </p:sp>
    </p:spTree>
    <p:extLst>
      <p:ext uri="{BB962C8B-B14F-4D97-AF65-F5344CB8AC3E}">
        <p14:creationId xmlns:p14="http://schemas.microsoft.com/office/powerpoint/2010/main" val="834526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74773" y="0"/>
            <a:ext cx="6042454" cy="6858000"/>
          </a:xfrm>
          <a:prstGeom prst="rect">
            <a:avLst/>
          </a:prstGeom>
        </p:spPr>
      </p:pic>
    </p:spTree>
    <p:extLst>
      <p:ext uri="{BB962C8B-B14F-4D97-AF65-F5344CB8AC3E}">
        <p14:creationId xmlns:p14="http://schemas.microsoft.com/office/powerpoint/2010/main" val="2307933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GraphRAG</a:t>
            </a:r>
            <a:r>
              <a:rPr lang="en-US" dirty="0" smtClean="0"/>
              <a:t> – Agentic Framework</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Structured Document to Graph: We begin by analyzing the documents' structure, inferring entities and relationships from them. This gives us the basic building blocks for the ontology for the dataset. We associate all the entities found in the document with a node representing the document itself.</a:t>
            </a:r>
          </a:p>
          <a:p>
            <a:r>
              <a:rPr lang="en-US" dirty="0" smtClean="0"/>
              <a:t>Graph enrichment with Named Entity Recognition (NER): In order to extract more structurally sound information from our raw data, we apply good-old-fashioned NER to extract the names of people, organizations, places </a:t>
            </a:r>
            <a:r>
              <a:rPr lang="en-US" dirty="0" err="1" smtClean="0"/>
              <a:t>etc</a:t>
            </a:r>
            <a:r>
              <a:rPr lang="en-US" dirty="0" smtClean="0"/>
              <a:t> from the text. As opposed to using an LLM for this task, the variety in the types of relationships created as part of this process is quite limited, which will come in handy later on.</a:t>
            </a:r>
          </a:p>
          <a:p>
            <a:r>
              <a:rPr lang="en-US" dirty="0" smtClean="0"/>
              <a:t>From Semantic Space to Embedding: In this step we’re transforming the raw text into high-dimensional vector representations, or </a:t>
            </a:r>
            <a:r>
              <a:rPr lang="en-US" dirty="0" err="1" smtClean="0"/>
              <a:t>embeddings</a:t>
            </a:r>
            <a:r>
              <a:rPr lang="en-US" dirty="0" smtClean="0"/>
              <a:t>. As with other RAG processes, we chunk our raw text data into smaller segments, and embed them. Each segment is then embedded, and saved in Pinecone with metadata that points back to its parent document. </a:t>
            </a:r>
            <a:r>
              <a:rPr lang="en-US" b="1" dirty="0" smtClean="0"/>
              <a:t>Crucially, the document ID used in this step matches the document ID used in the graph database</a:t>
            </a:r>
            <a:r>
              <a:rPr lang="en-US" dirty="0" smtClean="0"/>
              <a:t>.</a:t>
            </a:r>
          </a:p>
        </p:txBody>
      </p:sp>
    </p:spTree>
    <p:extLst>
      <p:ext uri="{BB962C8B-B14F-4D97-AF65-F5344CB8AC3E}">
        <p14:creationId xmlns:p14="http://schemas.microsoft.com/office/powerpoint/2010/main" val="4014759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GraphRAG</a:t>
            </a:r>
            <a:r>
              <a:rPr lang="en-US" dirty="0" smtClean="0"/>
              <a:t> – Agentic Framework</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Semantic search for RAG: As done in other RAG applications, we use the retrieved matches as the context for the LLM to produce a summary that would relate to the initial query. This summarization process helps distill the key information from the retrieved chunks, providing a concise and relevant response to the user's query. The summary can also serve as a starting point for further exploration or more specific follow-up questions.</a:t>
            </a:r>
          </a:p>
          <a:p>
            <a:r>
              <a:rPr lang="en-US" dirty="0" smtClean="0"/>
              <a:t>Semantic search as Graph filtering: When users perform a query, we resolve chunks through similarity search. The system returns the document IDs associated with the matched chunks - and those correspond to the node IDs in our knowledge graph. Effectively, the semantic search filters the graphs to produce nodes and edges that would have some contextual relevance to the initial query.</a:t>
            </a:r>
          </a:p>
          <a:p>
            <a:r>
              <a:rPr lang="en-US" dirty="0" smtClean="0"/>
              <a:t>Looping Back with Graph Context: Armed with this structured graph context, the system loops back to the LLM. The LLM now uses this graph-informed perspective to generate more precise, contextually grounded queries. Rather than operating blindly, the LLM can craft queries that reflect the relationships and constraints defined by the graph, asking more nuanced and domain-relevant questions.</a:t>
            </a:r>
            <a:endParaRPr lang="en-US" dirty="0"/>
          </a:p>
        </p:txBody>
      </p:sp>
    </p:spTree>
    <p:extLst>
      <p:ext uri="{BB962C8B-B14F-4D97-AF65-F5344CB8AC3E}">
        <p14:creationId xmlns:p14="http://schemas.microsoft.com/office/powerpoint/2010/main" val="32732435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Microsoft </a:t>
            </a:r>
            <a:r>
              <a:rPr lang="en-US" dirty="0" err="1" smtClean="0"/>
              <a:t>GraphRag</a:t>
            </a:r>
            <a:endParaRPr lang="en-US" dirty="0"/>
          </a:p>
        </p:txBody>
      </p:sp>
      <p:sp>
        <p:nvSpPr>
          <p:cNvPr id="3" name="Content Placeholder 2"/>
          <p:cNvSpPr>
            <a:spLocks noGrp="1"/>
          </p:cNvSpPr>
          <p:nvPr>
            <p:ph idx="1"/>
          </p:nvPr>
        </p:nvSpPr>
        <p:spPr/>
        <p:txBody>
          <a:bodyPr>
            <a:normAutofit/>
          </a:bodyPr>
          <a:lstStyle/>
          <a:p>
            <a:r>
              <a:rPr lang="en-US" dirty="0">
                <a:hlinkClick r:id="rId2"/>
              </a:rPr>
              <a:t>https://www.microsoft.com/en-us/research/blog/graphrag-unlocking-llm-discovery-on-narrative-private-data</a:t>
            </a:r>
            <a:r>
              <a:rPr lang="en-US" dirty="0" smtClean="0">
                <a:hlinkClick r:id="rId2"/>
              </a:rPr>
              <a:t>/</a:t>
            </a:r>
            <a:endParaRPr lang="en-US" dirty="0" smtClean="0"/>
          </a:p>
          <a:p>
            <a:r>
              <a:rPr lang="en-US" dirty="0"/>
              <a:t>Microsoft researchers have developed a new technique called Graph RAG (Retrieval-Augmented Generation) to </a:t>
            </a:r>
            <a:r>
              <a:rPr lang="en-US" b="1" dirty="0"/>
              <a:t>enhance large language models' ability to summarize vast amounts of text</a:t>
            </a:r>
            <a:r>
              <a:rPr lang="en-US" dirty="0"/>
              <a:t>. </a:t>
            </a:r>
            <a:endParaRPr lang="en-US" dirty="0" smtClean="0"/>
          </a:p>
          <a:p>
            <a:r>
              <a:rPr lang="en-US" dirty="0" smtClean="0"/>
              <a:t>This </a:t>
            </a:r>
            <a:r>
              <a:rPr lang="en-US" dirty="0"/>
              <a:t>method </a:t>
            </a:r>
            <a:r>
              <a:rPr lang="en-US" b="1" dirty="0"/>
              <a:t>combines the strengths of RAG systems and query-focused summarization (QFS) </a:t>
            </a:r>
            <a:r>
              <a:rPr lang="en-US" dirty="0"/>
              <a:t>to tackle </a:t>
            </a:r>
            <a:r>
              <a:rPr lang="en-US" b="1" dirty="0"/>
              <a:t>complex questions </a:t>
            </a:r>
            <a:r>
              <a:rPr lang="en-US" dirty="0"/>
              <a:t>that </a:t>
            </a:r>
            <a:r>
              <a:rPr lang="en-US" b="1" dirty="0"/>
              <a:t>require understanding entire datasets</a:t>
            </a:r>
            <a:r>
              <a:rPr lang="en-US" dirty="0"/>
              <a:t>, like </a:t>
            </a:r>
            <a:r>
              <a:rPr lang="en-US" b="1" dirty="0"/>
              <a:t>identifying key themes across a large collection of documents</a:t>
            </a:r>
            <a:r>
              <a:rPr lang="en-US" dirty="0"/>
              <a:t>.</a:t>
            </a:r>
            <a:endParaRPr lang="en-US" dirty="0" smtClean="0"/>
          </a:p>
        </p:txBody>
      </p:sp>
    </p:spTree>
    <p:extLst>
      <p:ext uri="{BB962C8B-B14F-4D97-AF65-F5344CB8AC3E}">
        <p14:creationId xmlns:p14="http://schemas.microsoft.com/office/powerpoint/2010/main" val="40285870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t>
            </a:r>
            <a:r>
              <a:rPr lang="en-US" dirty="0" err="1"/>
              <a:t>GraphRag</a:t>
            </a:r>
            <a:endParaRPr lang="en-US" dirty="0"/>
          </a:p>
        </p:txBody>
      </p:sp>
      <p:sp>
        <p:nvSpPr>
          <p:cNvPr id="3" name="Content Placeholder 2"/>
          <p:cNvSpPr>
            <a:spLocks noGrp="1"/>
          </p:cNvSpPr>
          <p:nvPr>
            <p:ph idx="1"/>
          </p:nvPr>
        </p:nvSpPr>
        <p:spPr/>
        <p:txBody>
          <a:bodyPr/>
          <a:lstStyle/>
          <a:p>
            <a:r>
              <a:rPr lang="en-US" dirty="0"/>
              <a:t>Graph RAG overcomes the limitations of </a:t>
            </a:r>
            <a:r>
              <a:rPr lang="en-US" b="1" dirty="0"/>
              <a:t>traditional RAG systems, which struggle with questions that involve summarizing broad concepts rather than retrieving specific information</a:t>
            </a:r>
            <a:r>
              <a:rPr lang="en-US" dirty="0"/>
              <a:t>. </a:t>
            </a:r>
            <a:endParaRPr lang="en-US" dirty="0" smtClean="0"/>
          </a:p>
          <a:p>
            <a:r>
              <a:rPr lang="en-US" dirty="0" smtClean="0"/>
              <a:t>It </a:t>
            </a:r>
            <a:r>
              <a:rPr lang="en-US" dirty="0"/>
              <a:t>achieves this by creating a </a:t>
            </a:r>
            <a:r>
              <a:rPr lang="en-US" b="1" dirty="0"/>
              <a:t>graph-based text index using a large language model</a:t>
            </a:r>
            <a:r>
              <a:rPr lang="en-US" dirty="0"/>
              <a:t>, </a:t>
            </a:r>
            <a:r>
              <a:rPr lang="en-US" b="1" dirty="0"/>
              <a:t>enabling the generation of comprehensive and diverse answers by summarizing information from closely-related entities within the graph</a:t>
            </a:r>
            <a:r>
              <a:rPr lang="en-US" dirty="0"/>
              <a:t>.</a:t>
            </a:r>
          </a:p>
        </p:txBody>
      </p:sp>
    </p:spTree>
    <p:extLst>
      <p:ext uri="{BB962C8B-B14F-4D97-AF65-F5344CB8AC3E}">
        <p14:creationId xmlns:p14="http://schemas.microsoft.com/office/powerpoint/2010/main" val="19635794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t>
            </a:r>
            <a:r>
              <a:rPr lang="en-US" dirty="0" err="1"/>
              <a:t>GraphRag</a:t>
            </a:r>
            <a:endParaRPr lang="en-US" dirty="0"/>
          </a:p>
        </p:txBody>
      </p:sp>
      <p:sp>
        <p:nvSpPr>
          <p:cNvPr id="3" name="Content Placeholder 2"/>
          <p:cNvSpPr>
            <a:spLocks noGrp="1"/>
          </p:cNvSpPr>
          <p:nvPr>
            <p:ph idx="1"/>
          </p:nvPr>
        </p:nvSpPr>
        <p:spPr/>
        <p:txBody>
          <a:bodyPr>
            <a:normAutofit/>
          </a:bodyPr>
          <a:lstStyle/>
          <a:p>
            <a:r>
              <a:rPr lang="en-US" dirty="0"/>
              <a:t>Here's a detailed breakdown of how Graph RAG operates:</a:t>
            </a:r>
          </a:p>
          <a:p>
            <a:r>
              <a:rPr lang="en-US" dirty="0"/>
              <a:t>1. The </a:t>
            </a:r>
            <a:r>
              <a:rPr lang="en-US" b="1" dirty="0"/>
              <a:t>large language model (LLM) constructs a graph-based text index </a:t>
            </a:r>
            <a:r>
              <a:rPr lang="en-US" dirty="0"/>
              <a:t>through two key phases:</a:t>
            </a:r>
          </a:p>
          <a:p>
            <a:pPr lvl="1"/>
            <a:r>
              <a:rPr lang="en-US" dirty="0"/>
              <a:t>- </a:t>
            </a:r>
            <a:r>
              <a:rPr lang="en-US" b="1" dirty="0"/>
              <a:t>Creating an entity knowledge graph based on the source documents</a:t>
            </a:r>
            <a:r>
              <a:rPr lang="en-US" dirty="0"/>
              <a:t>.</a:t>
            </a:r>
          </a:p>
          <a:p>
            <a:pPr lvl="1"/>
            <a:r>
              <a:rPr lang="en-US" dirty="0"/>
              <a:t>- </a:t>
            </a:r>
            <a:r>
              <a:rPr lang="en-US" b="1" dirty="0"/>
              <a:t>Generating preliminary summaries for clusters of closely-related entities</a:t>
            </a:r>
            <a:r>
              <a:rPr lang="en-US" dirty="0"/>
              <a:t>.</a:t>
            </a:r>
          </a:p>
          <a:p>
            <a:r>
              <a:rPr lang="en-US" dirty="0"/>
              <a:t>2. </a:t>
            </a:r>
            <a:r>
              <a:rPr lang="en-US" b="1" dirty="0"/>
              <a:t>When presented with a question, each cluster summary contributes to forming a partial answer</a:t>
            </a:r>
            <a:r>
              <a:rPr lang="en-US" dirty="0"/>
              <a:t>.</a:t>
            </a:r>
          </a:p>
          <a:p>
            <a:r>
              <a:rPr lang="en-US" dirty="0"/>
              <a:t>3. </a:t>
            </a:r>
            <a:r>
              <a:rPr lang="en-US" b="1" dirty="0"/>
              <a:t>These partial answers are amalgamated and condensed into a comprehensive response for the user</a:t>
            </a:r>
            <a:r>
              <a:rPr lang="en-US" dirty="0"/>
              <a:t>.</a:t>
            </a:r>
          </a:p>
        </p:txBody>
      </p:sp>
    </p:spTree>
    <p:extLst>
      <p:ext uri="{BB962C8B-B14F-4D97-AF65-F5344CB8AC3E}">
        <p14:creationId xmlns:p14="http://schemas.microsoft.com/office/powerpoint/2010/main" val="3413965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t>
            </a:r>
            <a:r>
              <a:rPr lang="en-US" dirty="0" err="1"/>
              <a:t>GraphRag</a:t>
            </a:r>
            <a:endParaRPr lang="en-US" dirty="0"/>
          </a:p>
        </p:txBody>
      </p:sp>
      <p:sp>
        <p:nvSpPr>
          <p:cNvPr id="3" name="Content Placeholder 2"/>
          <p:cNvSpPr>
            <a:spLocks noGrp="1"/>
          </p:cNvSpPr>
          <p:nvPr>
            <p:ph idx="1"/>
          </p:nvPr>
        </p:nvSpPr>
        <p:spPr/>
        <p:txBody>
          <a:bodyPr>
            <a:normAutofit/>
          </a:bodyPr>
          <a:lstStyle/>
          <a:p>
            <a:r>
              <a:rPr lang="en-US" dirty="0"/>
              <a:t>The implications of this research are significant for industries that rely on the analysis of large volumes of text data, such as:</a:t>
            </a:r>
          </a:p>
          <a:p>
            <a:pPr lvl="1"/>
            <a:r>
              <a:rPr lang="en-US" dirty="0"/>
              <a:t>- </a:t>
            </a:r>
            <a:r>
              <a:rPr lang="en-US" b="1" dirty="0"/>
              <a:t>Legal</a:t>
            </a:r>
            <a:r>
              <a:rPr lang="en-US" dirty="0"/>
              <a:t>: Summarizing case law and identifying relevant precedents</a:t>
            </a:r>
          </a:p>
          <a:p>
            <a:pPr lvl="1"/>
            <a:r>
              <a:rPr lang="en-US" dirty="0"/>
              <a:t>- </a:t>
            </a:r>
            <a:r>
              <a:rPr lang="en-US" b="1" dirty="0"/>
              <a:t>Academic research</a:t>
            </a:r>
            <a:r>
              <a:rPr lang="en-US" dirty="0"/>
              <a:t>: Synthesizing scientific papers and identifying research trends</a:t>
            </a:r>
          </a:p>
          <a:p>
            <a:pPr lvl="1"/>
            <a:r>
              <a:rPr lang="en-US" dirty="0"/>
              <a:t>- </a:t>
            </a:r>
            <a:r>
              <a:rPr lang="en-US" b="1" dirty="0"/>
              <a:t>Intelligence analysis</a:t>
            </a:r>
            <a:r>
              <a:rPr lang="en-US" dirty="0"/>
              <a:t>: Extracting insights from diverse sources of intelligence data</a:t>
            </a:r>
          </a:p>
          <a:p>
            <a:pPr marL="0" indent="0">
              <a:buNone/>
            </a:pPr>
            <a:endParaRPr lang="en-US" dirty="0"/>
          </a:p>
          <a:p>
            <a:r>
              <a:rPr lang="en-US" b="1" dirty="0" smtClean="0"/>
              <a:t>Graph-based </a:t>
            </a:r>
            <a:r>
              <a:rPr lang="en-US" b="1" dirty="0"/>
              <a:t>RAG approach could indeed render the necessity for a longer context window (&gt; 1M) obsolete</a:t>
            </a:r>
            <a:r>
              <a:rPr lang="en-US" dirty="0"/>
              <a:t>. </a:t>
            </a:r>
          </a:p>
        </p:txBody>
      </p:sp>
    </p:spTree>
    <p:extLst>
      <p:ext uri="{BB962C8B-B14F-4D97-AF65-F5344CB8AC3E}">
        <p14:creationId xmlns:p14="http://schemas.microsoft.com/office/powerpoint/2010/main" val="16441820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RAPTOR (Recursive Abstractive Processing for Tree-Organized Retrieval) </a:t>
            </a:r>
          </a:p>
        </p:txBody>
      </p:sp>
      <p:sp>
        <p:nvSpPr>
          <p:cNvPr id="3" name="Content Placeholder 2"/>
          <p:cNvSpPr>
            <a:spLocks noGrp="1"/>
          </p:cNvSpPr>
          <p:nvPr>
            <p:ph idx="1"/>
          </p:nvPr>
        </p:nvSpPr>
        <p:spPr/>
        <p:txBody>
          <a:bodyPr>
            <a:normAutofit/>
          </a:bodyPr>
          <a:lstStyle/>
          <a:p>
            <a:r>
              <a:rPr lang="en-US" dirty="0"/>
              <a:t>RAPTOR (</a:t>
            </a:r>
            <a:r>
              <a:rPr lang="en-US" b="1" dirty="0"/>
              <a:t>Recursive Abstractive Processing for Tree-Organized Retrieval</a:t>
            </a:r>
            <a:r>
              <a:rPr lang="en-US" dirty="0"/>
              <a:t>) is a novel approach designed to </a:t>
            </a:r>
            <a:r>
              <a:rPr lang="en-US" b="1" dirty="0"/>
              <a:t>improve the performance of retrieval-augmented language models (RAG) for long documents</a:t>
            </a:r>
            <a:r>
              <a:rPr lang="en-US" dirty="0"/>
              <a:t>. </a:t>
            </a:r>
          </a:p>
          <a:p>
            <a:r>
              <a:rPr lang="en-US" dirty="0"/>
              <a:t>Traditional </a:t>
            </a:r>
            <a:r>
              <a:rPr lang="en-US" b="1" dirty="0"/>
              <a:t>RAG systems retrieve relevant text snippets from a corpus based on the user's query </a:t>
            </a:r>
            <a:r>
              <a:rPr lang="en-US" dirty="0"/>
              <a:t>and then use a large language model (LLM) to answer the question based on those snippets. This approach has limitations:</a:t>
            </a:r>
          </a:p>
          <a:p>
            <a:pPr lvl="1"/>
            <a:r>
              <a:rPr lang="en-US" b="1" dirty="0" smtClean="0"/>
              <a:t>Limited </a:t>
            </a:r>
            <a:r>
              <a:rPr lang="en-US" b="1" dirty="0"/>
              <a:t>Context</a:t>
            </a:r>
            <a:r>
              <a:rPr lang="en-US" dirty="0"/>
              <a:t>: </a:t>
            </a:r>
            <a:r>
              <a:rPr lang="en-US" i="1" dirty="0"/>
              <a:t>LLMs might not have access to the complete context of the document if only short snippets are retrieved</a:t>
            </a:r>
            <a:r>
              <a:rPr lang="en-US" dirty="0"/>
              <a:t>.</a:t>
            </a:r>
          </a:p>
          <a:p>
            <a:pPr lvl="1"/>
            <a:r>
              <a:rPr lang="en-US" b="1" dirty="0" smtClean="0"/>
              <a:t>“Lost-in-the-Middle</a:t>
            </a:r>
            <a:r>
              <a:rPr lang="en-US" dirty="0"/>
              <a:t>" Effect: </a:t>
            </a:r>
            <a:r>
              <a:rPr lang="en-US" i="1" dirty="0"/>
              <a:t>Key details within the document might be missed if the provided context is too long</a:t>
            </a:r>
            <a:r>
              <a:rPr lang="en-US" dirty="0" smtClean="0"/>
              <a:t>.</a:t>
            </a:r>
            <a:endParaRPr lang="en-US" dirty="0"/>
          </a:p>
        </p:txBody>
      </p:sp>
    </p:spTree>
    <p:extLst>
      <p:ext uri="{BB962C8B-B14F-4D97-AF65-F5344CB8AC3E}">
        <p14:creationId xmlns:p14="http://schemas.microsoft.com/office/powerpoint/2010/main" val="28784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RAPTOR (Recursive Abstractive Processing for Tree-Organized Retrieval) </a:t>
            </a:r>
          </a:p>
        </p:txBody>
      </p:sp>
      <p:sp>
        <p:nvSpPr>
          <p:cNvPr id="3" name="Content Placeholder 2"/>
          <p:cNvSpPr>
            <a:spLocks noGrp="1"/>
          </p:cNvSpPr>
          <p:nvPr>
            <p:ph idx="1"/>
          </p:nvPr>
        </p:nvSpPr>
        <p:spPr/>
        <p:txBody>
          <a:bodyPr>
            <a:normAutofit/>
          </a:bodyPr>
          <a:lstStyle/>
          <a:p>
            <a:r>
              <a:rPr lang="en-US" dirty="0" smtClean="0"/>
              <a:t>RAPTOR </a:t>
            </a:r>
            <a:r>
              <a:rPr lang="en-US" dirty="0"/>
              <a:t>tackles these limitations by focusing on a hierarchical summarization technique:</a:t>
            </a:r>
          </a:p>
          <a:p>
            <a:pPr lvl="1"/>
            <a:r>
              <a:rPr lang="en-US" b="1" dirty="0" smtClean="0"/>
              <a:t>Clustering </a:t>
            </a:r>
            <a:r>
              <a:rPr lang="en-US" b="1" dirty="0"/>
              <a:t>and Summarization</a:t>
            </a:r>
            <a:r>
              <a:rPr lang="en-US" dirty="0"/>
              <a:t>: RAPTOR first </a:t>
            </a:r>
            <a:r>
              <a:rPr lang="en-US" i="1" dirty="0"/>
              <a:t>clusters text chunks from the document together based on their semantic similarity</a:t>
            </a:r>
            <a:r>
              <a:rPr lang="en-US" dirty="0"/>
              <a:t>.</a:t>
            </a:r>
          </a:p>
          <a:p>
            <a:pPr lvl="1"/>
            <a:r>
              <a:rPr lang="en-US" b="1" dirty="0" smtClean="0"/>
              <a:t>Recursive </a:t>
            </a:r>
            <a:r>
              <a:rPr lang="en-US" b="1" dirty="0"/>
              <a:t>Summarization</a:t>
            </a:r>
            <a:r>
              <a:rPr lang="en-US" dirty="0"/>
              <a:t>: </a:t>
            </a:r>
            <a:r>
              <a:rPr lang="en-US" i="1" dirty="0"/>
              <a:t>It then creates summaries for each cluster, capturing higher-level concepts. This process is repeated recursively, creating summaries of summaries for broader context</a:t>
            </a:r>
            <a:r>
              <a:rPr lang="en-US" dirty="0"/>
              <a:t>.</a:t>
            </a:r>
          </a:p>
          <a:p>
            <a:pPr lvl="1"/>
            <a:r>
              <a:rPr lang="en-US" b="1" dirty="0" smtClean="0"/>
              <a:t>Tree </a:t>
            </a:r>
            <a:r>
              <a:rPr lang="en-US" b="1" dirty="0"/>
              <a:t>Structure</a:t>
            </a:r>
            <a:r>
              <a:rPr lang="en-US" dirty="0"/>
              <a:t>: </a:t>
            </a:r>
            <a:r>
              <a:rPr lang="en-US" i="1" dirty="0"/>
              <a:t>The summaries and original text chunks are organized into a tree structure</a:t>
            </a:r>
            <a:r>
              <a:rPr lang="en-US" dirty="0"/>
              <a:t>, </a:t>
            </a:r>
            <a:r>
              <a:rPr lang="en-US" i="1" dirty="0"/>
              <a:t>with the most detailed information (original text) at the leaves and higher-level summaries branching upwards</a:t>
            </a:r>
            <a:r>
              <a:rPr lang="en-US" dirty="0" smtClean="0"/>
              <a:t>.</a:t>
            </a:r>
            <a:endParaRPr lang="en-US" dirty="0"/>
          </a:p>
        </p:txBody>
      </p:sp>
    </p:spTree>
    <p:extLst>
      <p:ext uri="{BB962C8B-B14F-4D97-AF65-F5344CB8AC3E}">
        <p14:creationId xmlns:p14="http://schemas.microsoft.com/office/powerpoint/2010/main" val="38816885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RAPTOR (Recursive Abstractive Processing for Tree-Organized Retrieval) </a:t>
            </a:r>
          </a:p>
        </p:txBody>
      </p:sp>
      <p:sp>
        <p:nvSpPr>
          <p:cNvPr id="3" name="Content Placeholder 2"/>
          <p:cNvSpPr>
            <a:spLocks noGrp="1"/>
          </p:cNvSpPr>
          <p:nvPr>
            <p:ph idx="1"/>
          </p:nvPr>
        </p:nvSpPr>
        <p:spPr>
          <a:xfrm>
            <a:off x="754225" y="1816295"/>
            <a:ext cx="10515600" cy="4351338"/>
          </a:xfrm>
        </p:spPr>
        <p:txBody>
          <a:bodyPr>
            <a:normAutofit/>
          </a:bodyPr>
          <a:lstStyle/>
          <a:p>
            <a:r>
              <a:rPr lang="en-US" dirty="0" smtClean="0"/>
              <a:t>Benefits </a:t>
            </a:r>
            <a:r>
              <a:rPr lang="en-US" dirty="0"/>
              <a:t>of RAPTOR:</a:t>
            </a:r>
          </a:p>
          <a:p>
            <a:pPr lvl="1"/>
            <a:r>
              <a:rPr lang="en-US" b="1" dirty="0" smtClean="0"/>
              <a:t>Improved </a:t>
            </a:r>
            <a:r>
              <a:rPr lang="en-US" b="1" dirty="0"/>
              <a:t>Context</a:t>
            </a:r>
            <a:r>
              <a:rPr lang="en-US" dirty="0"/>
              <a:t>: LLMs can access both high-level and low-level details from the document through the tree structure.</a:t>
            </a:r>
          </a:p>
          <a:p>
            <a:pPr lvl="1"/>
            <a:r>
              <a:rPr lang="en-US" b="1" dirty="0" smtClean="0"/>
              <a:t>Reduced </a:t>
            </a:r>
            <a:r>
              <a:rPr lang="en-US" b="1" dirty="0"/>
              <a:t>Risk of Missing Information</a:t>
            </a:r>
            <a:r>
              <a:rPr lang="en-US" dirty="0"/>
              <a:t>: The hierarchical summaries ensure that key information is less likely to be overlooked by the LLM.</a:t>
            </a:r>
          </a:p>
          <a:p>
            <a:pPr lvl="1"/>
            <a:r>
              <a:rPr lang="en-US" b="1" dirty="0" smtClean="0"/>
              <a:t>Efficiency </a:t>
            </a:r>
            <a:r>
              <a:rPr lang="en-US" b="1" dirty="0"/>
              <a:t>for Long Documents</a:t>
            </a:r>
            <a:r>
              <a:rPr lang="en-US" dirty="0"/>
              <a:t>: RAPTOR avoids splitting long documents into small chunks, making it more efficient for large texts</a:t>
            </a:r>
            <a:r>
              <a:rPr lang="en-US" dirty="0" smtClean="0"/>
              <a:t>.</a:t>
            </a:r>
          </a:p>
          <a:p>
            <a:r>
              <a:rPr lang="en-US" dirty="0">
                <a:hlinkClick r:id="rId2"/>
              </a:rPr>
              <a:t>https://</a:t>
            </a:r>
            <a:r>
              <a:rPr lang="en-US" dirty="0" smtClean="0">
                <a:hlinkClick r:id="rId2"/>
              </a:rPr>
              <a:t>github.com/parthsarthi03/raptor</a:t>
            </a:r>
            <a:endParaRPr lang="en-US" dirty="0" smtClean="0"/>
          </a:p>
          <a:p>
            <a:r>
              <a:rPr lang="en-US" dirty="0">
                <a:hlinkClick r:id="rId3"/>
              </a:rPr>
              <a:t>https://</a:t>
            </a:r>
            <a:r>
              <a:rPr lang="en-US" dirty="0" smtClean="0">
                <a:hlinkClick r:id="rId3"/>
              </a:rPr>
              <a:t>arxiv.org/abs/2401.18059</a:t>
            </a:r>
            <a:endParaRPr lang="en-US" dirty="0" smtClean="0"/>
          </a:p>
          <a:p>
            <a:pPr marL="0" indent="0">
              <a:buNone/>
            </a:pPr>
            <a:endParaRPr lang="en-US" dirty="0"/>
          </a:p>
        </p:txBody>
      </p:sp>
    </p:spTree>
    <p:extLst>
      <p:ext uri="{BB962C8B-B14F-4D97-AF65-F5344CB8AC3E}">
        <p14:creationId xmlns:p14="http://schemas.microsoft.com/office/powerpoint/2010/main" val="6617061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LLM Recall: It's All About Context </a:t>
            </a:r>
          </a:p>
        </p:txBody>
      </p:sp>
      <p:sp>
        <p:nvSpPr>
          <p:cNvPr id="3" name="Content Placeholder 2"/>
          <p:cNvSpPr>
            <a:spLocks noGrp="1"/>
          </p:cNvSpPr>
          <p:nvPr>
            <p:ph idx="1"/>
          </p:nvPr>
        </p:nvSpPr>
        <p:spPr/>
        <p:txBody>
          <a:bodyPr>
            <a:normAutofit/>
          </a:bodyPr>
          <a:lstStyle/>
          <a:p>
            <a:r>
              <a:rPr lang="en-US" dirty="0"/>
              <a:t>R</a:t>
            </a:r>
            <a:r>
              <a:rPr lang="en-US" dirty="0" smtClean="0"/>
              <a:t>esearch </a:t>
            </a:r>
            <a:r>
              <a:rPr lang="en-US" dirty="0"/>
              <a:t>reveals that </a:t>
            </a:r>
            <a:r>
              <a:rPr lang="en-US" b="1" dirty="0"/>
              <a:t>the ability of LLMs to recall information depends heavily on the prompt</a:t>
            </a:r>
            <a:r>
              <a:rPr lang="en-US" dirty="0"/>
              <a:t> they are given.</a:t>
            </a:r>
          </a:p>
          <a:p>
            <a:r>
              <a:rPr lang="en-US" dirty="0"/>
              <a:t>Here's what they found:</a:t>
            </a:r>
          </a:p>
          <a:p>
            <a:pPr lvl="1"/>
            <a:r>
              <a:rPr lang="en-US" b="1" dirty="0" smtClean="0"/>
              <a:t>Context </a:t>
            </a:r>
            <a:r>
              <a:rPr lang="en-US" b="1" dirty="0"/>
              <a:t>matters</a:t>
            </a:r>
            <a:r>
              <a:rPr lang="en-US" dirty="0"/>
              <a:t>: </a:t>
            </a:r>
            <a:r>
              <a:rPr lang="en-US" b="1" dirty="0"/>
              <a:t>Where and how information is presented </a:t>
            </a:r>
            <a:r>
              <a:rPr lang="en-US" dirty="0"/>
              <a:t>within the prompt significantly affects an LLM's ability to recall it later.</a:t>
            </a:r>
          </a:p>
          <a:p>
            <a:pPr lvl="1"/>
            <a:r>
              <a:rPr lang="en-US" b="1" dirty="0" smtClean="0"/>
              <a:t>Training </a:t>
            </a:r>
            <a:r>
              <a:rPr lang="en-US" b="1" dirty="0"/>
              <a:t>data bias</a:t>
            </a:r>
            <a:r>
              <a:rPr lang="en-US" dirty="0"/>
              <a:t>: If the </a:t>
            </a:r>
            <a:r>
              <a:rPr lang="en-US" b="1" dirty="0"/>
              <a:t>prompt contradicts the LLM's training data</a:t>
            </a:r>
            <a:r>
              <a:rPr lang="en-US" dirty="0"/>
              <a:t>, its recall </a:t>
            </a:r>
            <a:r>
              <a:rPr lang="en-US" b="1" dirty="0"/>
              <a:t>performance can suffer</a:t>
            </a:r>
            <a:r>
              <a:rPr lang="en-US" dirty="0"/>
              <a:t>.</a:t>
            </a:r>
          </a:p>
          <a:p>
            <a:pPr lvl="1"/>
            <a:r>
              <a:rPr lang="en-US" b="1" dirty="0" smtClean="0"/>
              <a:t>Model </a:t>
            </a:r>
            <a:r>
              <a:rPr lang="en-US" b="1" dirty="0"/>
              <a:t>design &amp; training</a:t>
            </a:r>
            <a:r>
              <a:rPr lang="en-US" dirty="0"/>
              <a:t>: Factors like model size, architecture, training methods, and fine-tuning all play a role in boosting recall</a:t>
            </a:r>
            <a:r>
              <a:rPr lang="en-US" dirty="0" smtClean="0"/>
              <a:t>.</a:t>
            </a:r>
          </a:p>
          <a:p>
            <a:pPr lvl="1"/>
            <a:r>
              <a:rPr lang="en-US" b="1" dirty="0"/>
              <a:t>Method</a:t>
            </a:r>
            <a:r>
              <a:rPr lang="en-US" dirty="0"/>
              <a:t>: Find the "</a:t>
            </a:r>
            <a:r>
              <a:rPr lang="en-US" b="1" dirty="0"/>
              <a:t>needle-in-a-haystack</a:t>
            </a:r>
            <a:r>
              <a:rPr lang="en-US" dirty="0"/>
              <a:t>" </a:t>
            </a:r>
          </a:p>
        </p:txBody>
      </p:sp>
    </p:spTree>
    <p:extLst>
      <p:ext uri="{BB962C8B-B14F-4D97-AF65-F5344CB8AC3E}">
        <p14:creationId xmlns:p14="http://schemas.microsoft.com/office/powerpoint/2010/main" val="25659044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LLM Recall: It's All About Context </a:t>
            </a:r>
          </a:p>
        </p:txBody>
      </p:sp>
      <p:sp>
        <p:nvSpPr>
          <p:cNvPr id="3" name="Content Placeholder 2"/>
          <p:cNvSpPr>
            <a:spLocks noGrp="1"/>
          </p:cNvSpPr>
          <p:nvPr>
            <p:ph idx="1"/>
          </p:nvPr>
        </p:nvSpPr>
        <p:spPr/>
        <p:txBody>
          <a:bodyPr>
            <a:normAutofit/>
          </a:bodyPr>
          <a:lstStyle/>
          <a:p>
            <a:pPr marL="0" indent="0">
              <a:buNone/>
            </a:pPr>
            <a:endParaRPr lang="en-US" dirty="0"/>
          </a:p>
          <a:p>
            <a:r>
              <a:rPr lang="en-US" dirty="0" smtClean="0"/>
              <a:t>Researchers </a:t>
            </a:r>
            <a:r>
              <a:rPr lang="en-US" dirty="0"/>
              <a:t>placed a </a:t>
            </a:r>
            <a:r>
              <a:rPr lang="en-US" b="1" dirty="0"/>
              <a:t>specific piece of information ("needle") within a larger body of text ("haystack") and tested how well different LLMs could find it</a:t>
            </a:r>
            <a:r>
              <a:rPr lang="en-US" dirty="0"/>
              <a:t>. </a:t>
            </a:r>
            <a:endParaRPr lang="en-US" dirty="0" smtClean="0"/>
          </a:p>
          <a:p>
            <a:r>
              <a:rPr lang="en-US" dirty="0" smtClean="0"/>
              <a:t>They </a:t>
            </a:r>
            <a:r>
              <a:rPr lang="en-US" b="1" dirty="0"/>
              <a:t>varied the length of the haystack and the needle's location within the haystack to see how these factors impacted recall</a:t>
            </a:r>
            <a:r>
              <a:rPr lang="en-US" dirty="0" smtClean="0"/>
              <a:t>.</a:t>
            </a:r>
          </a:p>
          <a:p>
            <a:r>
              <a:rPr lang="en-US" dirty="0">
                <a:hlinkClick r:id="rId2"/>
              </a:rPr>
              <a:t>https://</a:t>
            </a:r>
            <a:r>
              <a:rPr lang="en-US" dirty="0" smtClean="0">
                <a:hlinkClick r:id="rId2"/>
              </a:rPr>
              <a:t>arxiv.org/abs/2404.08865</a:t>
            </a:r>
            <a:endParaRPr lang="en-US" dirty="0" smtClean="0"/>
          </a:p>
          <a:p>
            <a:endParaRPr lang="en-US" dirty="0"/>
          </a:p>
        </p:txBody>
      </p:sp>
    </p:spTree>
    <p:extLst>
      <p:ext uri="{BB962C8B-B14F-4D97-AF65-F5344CB8AC3E}">
        <p14:creationId xmlns:p14="http://schemas.microsoft.com/office/powerpoint/2010/main" val="10307080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6079</TotalTime>
  <Words>4282</Words>
  <Application>Microsoft Office PowerPoint</Application>
  <PresentationFormat>Widescreen</PresentationFormat>
  <Paragraphs>169</Paragraphs>
  <Slides>45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Calibri Light</vt:lpstr>
      <vt:lpstr>Office Theme</vt:lpstr>
      <vt:lpstr>Generative AI</vt:lpstr>
      <vt:lpstr>Retrieval augmented generation (RAG)</vt:lpstr>
      <vt:lpstr>What is retrieval augmented generation (RAG)</vt:lpstr>
      <vt:lpstr>What is RAG in AI / LLM?</vt:lpstr>
      <vt:lpstr>LLMs are “stuck” </vt:lpstr>
      <vt:lpstr>PowerPoint Presentation</vt:lpstr>
      <vt:lpstr>PowerPoint Presentation</vt:lpstr>
      <vt:lpstr>RAG</vt:lpstr>
      <vt:lpstr>LLMs lack context from private data </vt:lpstr>
      <vt:lpstr>PowerPoint Presentation</vt:lpstr>
      <vt:lpstr>PowerPoint Presentation</vt:lpstr>
      <vt:lpstr>Create your own foundation model</vt:lpstr>
      <vt:lpstr>Fine-tuning: adapting a foundation model to your domain’s data. </vt:lpstr>
      <vt:lpstr>Prompt engineering is insufficient for reducing hallucinations.</vt:lpstr>
      <vt:lpstr>RAG and semantic search</vt:lpstr>
      <vt:lpstr>PowerPoint Presentation</vt:lpstr>
      <vt:lpstr>Embedding</vt:lpstr>
      <vt:lpstr>Semantic Search</vt:lpstr>
      <vt:lpstr>PowerPoint Presentation</vt:lpstr>
      <vt:lpstr>PowerPoint Presentation</vt:lpstr>
      <vt:lpstr>PowerPoint Presentation</vt:lpstr>
      <vt:lpstr>Vector databases </vt:lpstr>
      <vt:lpstr>RAG</vt:lpstr>
      <vt:lpstr>ReRankers</vt:lpstr>
      <vt:lpstr>PowerPoint Presentation</vt:lpstr>
      <vt:lpstr>PowerPoint Presentation</vt:lpstr>
      <vt:lpstr>ReRankers</vt:lpstr>
      <vt:lpstr>PowerPoint Presentation</vt:lpstr>
      <vt:lpstr>GraphRAG: A Step Forward</vt:lpstr>
      <vt:lpstr>The LLM-centric GraphRAG Approach</vt:lpstr>
      <vt:lpstr>GraphRAG Use Cases</vt:lpstr>
      <vt:lpstr>The Limitations of the LLM centric GraphRAG Approaches</vt:lpstr>
      <vt:lpstr>A path towards agentic graph exploration</vt:lpstr>
      <vt:lpstr>PowerPoint Presentation</vt:lpstr>
      <vt:lpstr>GraphRAG – Agentic Framework</vt:lpstr>
      <vt:lpstr>GraphRAG – Agentic Framework</vt:lpstr>
      <vt:lpstr>Microsoft GraphRag</vt:lpstr>
      <vt:lpstr>Microsoft GraphRag</vt:lpstr>
      <vt:lpstr>Microsoft GraphRag</vt:lpstr>
      <vt:lpstr>Microsoft GraphRag</vt:lpstr>
      <vt:lpstr>RAPTOR (Recursive Abstractive Processing for Tree-Organized Retrieval) </vt:lpstr>
      <vt:lpstr>RAPTOR (Recursive Abstractive Processing for Tree-Organized Retrieval) </vt:lpstr>
      <vt:lpstr>RAPTOR (Recursive Abstractive Processing for Tree-Organized Retrieval) </vt:lpstr>
      <vt:lpstr>LLM Recall: It's All About Context </vt:lpstr>
      <vt:lpstr>LLM Recall: It's All About Context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Microsoft account</dc:creator>
  <cp:lastModifiedBy>Microsoft account</cp:lastModifiedBy>
  <cp:revision>54</cp:revision>
  <dcterms:created xsi:type="dcterms:W3CDTF">2024-10-02T20:19:49Z</dcterms:created>
  <dcterms:modified xsi:type="dcterms:W3CDTF">2025-11-19T19:18:03Z</dcterms:modified>
</cp:coreProperties>
</file>