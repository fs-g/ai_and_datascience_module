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9" r:id="rId15"/>
    <p:sldId id="268" r:id="rId16"/>
    <p:sldId id="275" r:id="rId17"/>
    <p:sldId id="273" r:id="rId18"/>
    <p:sldId id="270" r:id="rId19"/>
    <p:sldId id="276" r:id="rId20"/>
    <p:sldId id="277" r:id="rId21"/>
    <p:sldId id="278" r:id="rId22"/>
    <p:sldId id="279" r:id="rId23"/>
    <p:sldId id="280" r:id="rId24"/>
    <p:sldId id="282" r:id="rId25"/>
    <p:sldId id="281" r:id="rId26"/>
    <p:sldId id="283" r:id="rId27"/>
    <p:sldId id="284" r:id="rId28"/>
    <p:sldId id="285" r:id="rId29"/>
    <p:sldId id="286" r:id="rId30"/>
    <p:sldId id="288" r:id="rId31"/>
    <p:sldId id="28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A3FC4-F704-46EF-AD43-9F8F7E602EAD}"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CA15A-3354-4C35-983E-5AE890F1FE0B}" type="slidenum">
              <a:rPr lang="en-US" smtClean="0"/>
              <a:t>‹#›</a:t>
            </a:fld>
            <a:endParaRPr lang="en-US"/>
          </a:p>
        </p:txBody>
      </p:sp>
    </p:spTree>
    <p:extLst>
      <p:ext uri="{BB962C8B-B14F-4D97-AF65-F5344CB8AC3E}">
        <p14:creationId xmlns:p14="http://schemas.microsoft.com/office/powerpoint/2010/main" val="1308894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CA15A-3354-4C35-983E-5AE890F1FE0B}" type="slidenum">
              <a:rPr lang="en-US" smtClean="0"/>
              <a:t>12</a:t>
            </a:fld>
            <a:endParaRPr lang="en-US"/>
          </a:p>
        </p:txBody>
      </p:sp>
    </p:spTree>
    <p:extLst>
      <p:ext uri="{BB962C8B-B14F-4D97-AF65-F5344CB8AC3E}">
        <p14:creationId xmlns:p14="http://schemas.microsoft.com/office/powerpoint/2010/main" val="539587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82E2FB-64DF-44C7-99AB-C8CAC2ECFEB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1145732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82E2FB-64DF-44C7-99AB-C8CAC2ECFEB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1789919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82E2FB-64DF-44C7-99AB-C8CAC2ECFEB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3572766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82E2FB-64DF-44C7-99AB-C8CAC2ECFEB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440889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82E2FB-64DF-44C7-99AB-C8CAC2ECFEBE}"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2369698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82E2FB-64DF-44C7-99AB-C8CAC2ECFEBE}"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261287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82E2FB-64DF-44C7-99AB-C8CAC2ECFEBE}"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3562789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82E2FB-64DF-44C7-99AB-C8CAC2ECFEB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1876737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82E2FB-64DF-44C7-99AB-C8CAC2ECFEB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10371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82E2FB-64DF-44C7-99AB-C8CAC2ECFEB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888634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82E2FB-64DF-44C7-99AB-C8CAC2ECFEB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335186-DDA0-4D43-814F-9753868FD038}" type="slidenum">
              <a:rPr lang="en-US" smtClean="0"/>
              <a:t>‹#›</a:t>
            </a:fld>
            <a:endParaRPr lang="en-US"/>
          </a:p>
        </p:txBody>
      </p:sp>
    </p:spTree>
    <p:extLst>
      <p:ext uri="{BB962C8B-B14F-4D97-AF65-F5344CB8AC3E}">
        <p14:creationId xmlns:p14="http://schemas.microsoft.com/office/powerpoint/2010/main" val="2364934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82E2FB-64DF-44C7-99AB-C8CAC2ECFEBE}" type="datetimeFigureOut">
              <a:rPr lang="en-US" smtClean="0"/>
              <a:t>11/19/2025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335186-DDA0-4D43-814F-9753868FD038}" type="slidenum">
              <a:rPr lang="en-US" smtClean="0"/>
              <a:t>‹#›</a:t>
            </a:fld>
            <a:endParaRPr lang="en-US"/>
          </a:p>
        </p:txBody>
      </p:sp>
    </p:spTree>
    <p:extLst>
      <p:ext uri="{BB962C8B-B14F-4D97-AF65-F5344CB8AC3E}">
        <p14:creationId xmlns:p14="http://schemas.microsoft.com/office/powerpoint/2010/main" val="770872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huggingface.co/spaces/open-llm-leaderboard/open_llm_leaderboard" TargetMode="External"/><Relationship Id="rId2" Type="http://schemas.openxmlformats.org/officeDocument/2006/relationships/hyperlink" Target="https://huggingface.co/spaces/lmsys/chatbot-arena-leaderboar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i.google.dev/gemini-api/docs" TargetMode="External"/><Relationship Id="rId2" Type="http://schemas.openxmlformats.org/officeDocument/2006/relationships/hyperlink" Target="https://aistudio.googl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arxiv.org/abs/2106.09685"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arxiv.org/abs/2305.14314"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Advanced Generative AI</a:t>
            </a:r>
            <a:endParaRPr lang="en-US" dirty="0"/>
          </a:p>
        </p:txBody>
      </p:sp>
    </p:spTree>
    <p:extLst>
      <p:ext uri="{BB962C8B-B14F-4D97-AF65-F5344CB8AC3E}">
        <p14:creationId xmlns:p14="http://schemas.microsoft.com/office/powerpoint/2010/main" val="181120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Generation Quality Evaluation</a:t>
            </a:r>
            <a:endParaRPr lang="en-US" dirty="0"/>
          </a:p>
        </p:txBody>
      </p:sp>
    </p:spTree>
    <p:extLst>
      <p:ext uri="{BB962C8B-B14F-4D97-AF65-F5344CB8AC3E}">
        <p14:creationId xmlns:p14="http://schemas.microsoft.com/office/powerpoint/2010/main" val="190080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Generation Quality Evaluation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well-trained text generation system can make it really hard to distinguish between human and machine-written text pieces. Some of the popular real-world use cases where text generation is seen in action are Gmail’s Smart Reply, a smartphone’s Auto-completion, etc.</a:t>
            </a:r>
          </a:p>
          <a:p>
            <a:r>
              <a:rPr lang="en-US" b="1" dirty="0" smtClean="0"/>
              <a:t>Evaluating these systems can get tricky. </a:t>
            </a:r>
          </a:p>
          <a:p>
            <a:r>
              <a:rPr lang="en-US" dirty="0" smtClean="0"/>
              <a:t>Most of the systems available these days are </a:t>
            </a:r>
            <a:r>
              <a:rPr lang="en-US" b="1" dirty="0" smtClean="0"/>
              <a:t>probabilistic</a:t>
            </a:r>
            <a:r>
              <a:rPr lang="en-US" dirty="0" smtClean="0"/>
              <a:t> in nature and are often seen to </a:t>
            </a:r>
            <a:r>
              <a:rPr lang="en-US" b="1" dirty="0" smtClean="0"/>
              <a:t>hallucinate</a:t>
            </a:r>
            <a:r>
              <a:rPr lang="en-US" dirty="0" smtClean="0"/>
              <a:t> factual information when generating text. </a:t>
            </a:r>
          </a:p>
          <a:p>
            <a:r>
              <a:rPr lang="en-US" dirty="0" smtClean="0"/>
              <a:t>So, one of the best ways to perform the evaluation is to do it with the </a:t>
            </a:r>
            <a:r>
              <a:rPr lang="en-US" b="1" dirty="0" smtClean="0"/>
              <a:t>help of humans</a:t>
            </a:r>
            <a:r>
              <a:rPr lang="en-US" dirty="0" smtClean="0"/>
              <a:t>, but this might not always be feasible as it is a costly and time-consuming process. </a:t>
            </a:r>
          </a:p>
          <a:p>
            <a:r>
              <a:rPr lang="en-US" dirty="0" smtClean="0"/>
              <a:t>It also does not guarantee </a:t>
            </a:r>
            <a:r>
              <a:rPr lang="en-US" b="1" dirty="0" smtClean="0"/>
              <a:t>re-</a:t>
            </a:r>
            <a:r>
              <a:rPr lang="en-US" b="1" dirty="0" err="1" smtClean="0"/>
              <a:t>producibility</a:t>
            </a:r>
            <a:r>
              <a:rPr lang="en-US" dirty="0" smtClean="0"/>
              <a:t> because of the sampling bias. </a:t>
            </a:r>
          </a:p>
          <a:p>
            <a:r>
              <a:rPr lang="en-US" dirty="0" smtClean="0"/>
              <a:t>Also, </a:t>
            </a:r>
            <a:r>
              <a:rPr lang="en-US" b="1" dirty="0" smtClean="0"/>
              <a:t>evaluating at scale </a:t>
            </a:r>
            <a:r>
              <a:rPr lang="en-US" dirty="0" smtClean="0"/>
              <a:t>is not an option when doing manually. </a:t>
            </a:r>
          </a:p>
          <a:p>
            <a:r>
              <a:rPr lang="en-US" dirty="0" smtClean="0"/>
              <a:t>Hence, for the above-mentioned reasons, automatic metrics are usually preferred when evaluating text generation systems. </a:t>
            </a:r>
          </a:p>
        </p:txBody>
      </p:sp>
    </p:spTree>
    <p:extLst>
      <p:ext uri="{BB962C8B-B14F-4D97-AF65-F5344CB8AC3E}">
        <p14:creationId xmlns:p14="http://schemas.microsoft.com/office/powerpoint/2010/main" val="1874868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Generation Quality Evaluation</a:t>
            </a:r>
            <a:endParaRPr lang="en-US" dirty="0"/>
          </a:p>
        </p:txBody>
      </p:sp>
      <p:sp>
        <p:nvSpPr>
          <p:cNvPr id="3" name="Content Placeholder 2"/>
          <p:cNvSpPr>
            <a:spLocks noGrp="1"/>
          </p:cNvSpPr>
          <p:nvPr>
            <p:ph idx="1"/>
          </p:nvPr>
        </p:nvSpPr>
        <p:spPr/>
        <p:txBody>
          <a:bodyPr>
            <a:normAutofit/>
          </a:bodyPr>
          <a:lstStyle/>
          <a:p>
            <a:r>
              <a:rPr lang="en-US" dirty="0" smtClean="0"/>
              <a:t>Automatic metrics could be both </a:t>
            </a:r>
            <a:r>
              <a:rPr lang="en-US" b="1" dirty="0" smtClean="0"/>
              <a:t>trained</a:t>
            </a:r>
            <a:r>
              <a:rPr lang="en-US" dirty="0" smtClean="0"/>
              <a:t> and </a:t>
            </a:r>
            <a:r>
              <a:rPr lang="en-US" b="1" dirty="0" smtClean="0"/>
              <a:t>untrained</a:t>
            </a:r>
            <a:r>
              <a:rPr lang="en-US" dirty="0" smtClean="0"/>
              <a:t>. </a:t>
            </a:r>
          </a:p>
          <a:p>
            <a:r>
              <a:rPr lang="en-US" dirty="0" smtClean="0"/>
              <a:t>As expected, trained metrics try to take into account the task specifics when doing the evaluation but at the cost of learning this function with relevant data, </a:t>
            </a:r>
          </a:p>
          <a:p>
            <a:r>
              <a:rPr lang="en-US" dirty="0" smtClean="0"/>
              <a:t>whereas, untrained metrics are generic, require no training, are language-independent, and faster to calculate. </a:t>
            </a:r>
          </a:p>
          <a:p>
            <a:r>
              <a:rPr lang="en-US" dirty="0" smtClean="0"/>
              <a:t>Untrained metrics are popular and widely used to measure the quality of generated text in both the industry and academia spanning over many use cases like machine translation, text summarization, story generation, image captioning, etc.</a:t>
            </a:r>
          </a:p>
        </p:txBody>
      </p:sp>
    </p:spTree>
    <p:extLst>
      <p:ext uri="{BB962C8B-B14F-4D97-AF65-F5344CB8AC3E}">
        <p14:creationId xmlns:p14="http://schemas.microsoft.com/office/powerpoint/2010/main" val="2543441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ROUGE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ROUGE (Recall-Oriented Understudy for </a:t>
            </a:r>
            <a:r>
              <a:rPr lang="en-US" dirty="0" err="1" smtClean="0"/>
              <a:t>Gisting</a:t>
            </a:r>
            <a:r>
              <a:rPr lang="en-US" dirty="0" smtClean="0"/>
              <a:t> Evaluation) is a way to measure how well a computer-generated text, like a summary or an answer, </a:t>
            </a:r>
            <a:r>
              <a:rPr lang="en-US" b="1" dirty="0" smtClean="0"/>
              <a:t>matches a reference text </a:t>
            </a:r>
            <a:r>
              <a:rPr lang="en-US" dirty="0" smtClean="0"/>
              <a:t>written by a human. </a:t>
            </a:r>
          </a:p>
          <a:p>
            <a:r>
              <a:rPr lang="en-US" dirty="0" smtClean="0"/>
              <a:t>It works by </a:t>
            </a:r>
            <a:r>
              <a:rPr lang="en-US" b="1" dirty="0" smtClean="0"/>
              <a:t>comparing the words or phrases </a:t>
            </a:r>
            <a:r>
              <a:rPr lang="en-US" dirty="0" smtClean="0"/>
              <a:t>in the generated text to those in the reference text, focusing on how much of the important content from the reference is captured. </a:t>
            </a:r>
          </a:p>
          <a:p>
            <a:r>
              <a:rPr lang="en-US" dirty="0" smtClean="0"/>
              <a:t>ROUGE </a:t>
            </a:r>
            <a:r>
              <a:rPr lang="en-US" b="1" dirty="0" smtClean="0"/>
              <a:t>looks at overlaps of words, sequences of words (like short phrases), and even the overall meaning</a:t>
            </a:r>
            <a:r>
              <a:rPr lang="en-US" dirty="0" smtClean="0"/>
              <a:t>. </a:t>
            </a:r>
          </a:p>
          <a:p>
            <a:r>
              <a:rPr lang="en-US" dirty="0" smtClean="0"/>
              <a:t>The idea is that </a:t>
            </a:r>
            <a:r>
              <a:rPr lang="en-US" b="1" dirty="0" smtClean="0"/>
              <a:t>the more the computer-generated text overlaps with the human version, the better it is</a:t>
            </a:r>
            <a:r>
              <a:rPr lang="en-US" dirty="0" smtClean="0"/>
              <a:t>. </a:t>
            </a:r>
          </a:p>
          <a:p>
            <a:r>
              <a:rPr lang="en-US" dirty="0" smtClean="0"/>
              <a:t>It's commonly used to evaluate tasks like summarizing articles or answering questions, where it's important to capture the right information, even if the wording is a bit different.</a:t>
            </a:r>
            <a:endParaRPr lang="en-US" dirty="0"/>
          </a:p>
        </p:txBody>
      </p:sp>
    </p:spTree>
    <p:extLst>
      <p:ext uri="{BB962C8B-B14F-4D97-AF65-F5344CB8AC3E}">
        <p14:creationId xmlns:p14="http://schemas.microsoft.com/office/powerpoint/2010/main" val="3632276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ROGUE</a:t>
            </a:r>
            <a:endParaRPr lang="en-US" dirty="0"/>
          </a:p>
        </p:txBody>
      </p:sp>
      <p:sp>
        <p:nvSpPr>
          <p:cNvPr id="3" name="Content Placeholder 2"/>
          <p:cNvSpPr>
            <a:spLocks noGrp="1"/>
          </p:cNvSpPr>
          <p:nvPr>
            <p:ph idx="1"/>
          </p:nvPr>
        </p:nvSpPr>
        <p:spPr/>
        <p:txBody>
          <a:bodyPr/>
          <a:lstStyle/>
          <a:p>
            <a:r>
              <a:rPr lang="en-US" dirty="0" smtClean="0"/>
              <a:t> Rouge-1 calculates the overlap of </a:t>
            </a:r>
            <a:r>
              <a:rPr lang="en-US" b="1" dirty="0" smtClean="0"/>
              <a:t>unigram</a:t>
            </a:r>
            <a:r>
              <a:rPr lang="en-US" dirty="0" smtClean="0"/>
              <a:t>_(individual word)_ between the candidate and reference text pieces. </a:t>
            </a:r>
          </a:p>
          <a:p>
            <a:r>
              <a:rPr lang="en-US" dirty="0" smtClean="0"/>
              <a:t>Rouge-2 calculates the overlap of </a:t>
            </a:r>
            <a:r>
              <a:rPr lang="en-US" b="1" dirty="0" smtClean="0"/>
              <a:t>bigrams</a:t>
            </a:r>
            <a:r>
              <a:rPr lang="en-US" dirty="0" smtClean="0"/>
              <a:t>_(word pairs)_ between the candidate and reference text pieces. </a:t>
            </a:r>
          </a:p>
          <a:p>
            <a:r>
              <a:rPr lang="en-US" dirty="0" smtClean="0"/>
              <a:t>Rouge-L calculates the overlap of the longest co-occurring in sequence n-grams between candidate and reference text pieces. </a:t>
            </a:r>
          </a:p>
          <a:p>
            <a:r>
              <a:rPr lang="en-US" dirty="0" smtClean="0"/>
              <a:t>Rouge-S calculates the overlap of Skip-bigram(of any pair of words in their sentence order) between the candidate and reference text pieces. </a:t>
            </a:r>
            <a:endParaRPr lang="en-US" dirty="0"/>
          </a:p>
        </p:txBody>
      </p:sp>
    </p:spTree>
    <p:extLst>
      <p:ext uri="{BB962C8B-B14F-4D97-AF65-F5344CB8AC3E}">
        <p14:creationId xmlns:p14="http://schemas.microsoft.com/office/powerpoint/2010/main" val="946031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ROGUE</a:t>
            </a:r>
            <a:endParaRPr lang="en-US" dirty="0"/>
          </a:p>
        </p:txBody>
      </p:sp>
      <p:pic>
        <p:nvPicPr>
          <p:cNvPr id="4" name="Content Placeholder 3"/>
          <p:cNvPicPr>
            <a:picLocks noGrp="1" noChangeAspect="1"/>
          </p:cNvPicPr>
          <p:nvPr>
            <p:ph idx="1"/>
          </p:nvPr>
        </p:nvPicPr>
        <p:blipFill>
          <a:blip r:embed="rId2"/>
          <a:stretch>
            <a:fillRect/>
          </a:stretch>
        </p:blipFill>
        <p:spPr>
          <a:xfrm>
            <a:off x="1038513" y="2372520"/>
            <a:ext cx="9034163" cy="2799844"/>
          </a:xfrm>
          <a:prstGeom prst="rect">
            <a:avLst/>
          </a:prstGeom>
        </p:spPr>
      </p:pic>
    </p:spTree>
    <p:extLst>
      <p:ext uri="{BB962C8B-B14F-4D97-AF65-F5344CB8AC3E}">
        <p14:creationId xmlns:p14="http://schemas.microsoft.com/office/powerpoint/2010/main" val="4172375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ROGUE</a:t>
            </a:r>
            <a:endParaRPr lang="en-US" dirty="0"/>
          </a:p>
        </p:txBody>
      </p:sp>
      <p:sp>
        <p:nvSpPr>
          <p:cNvPr id="3" name="Content Placeholder 2"/>
          <p:cNvSpPr>
            <a:spLocks noGrp="1"/>
          </p:cNvSpPr>
          <p:nvPr>
            <p:ph idx="1"/>
          </p:nvPr>
        </p:nvSpPr>
        <p:spPr/>
        <p:txBody>
          <a:bodyPr/>
          <a:lstStyle/>
          <a:p>
            <a:pPr marL="0" indent="0">
              <a:buNone/>
            </a:pPr>
            <a:r>
              <a:rPr lang="en-US" dirty="0" smtClean="0"/>
              <a:t>!pip install rouge-score</a:t>
            </a:r>
          </a:p>
          <a:p>
            <a:pPr marL="0" indent="0">
              <a:buNone/>
            </a:pPr>
            <a:r>
              <a:rPr lang="en-US" dirty="0" smtClean="0"/>
              <a:t>from </a:t>
            </a:r>
            <a:r>
              <a:rPr lang="en-US" dirty="0" err="1" smtClean="0"/>
              <a:t>rouge_score</a:t>
            </a:r>
            <a:r>
              <a:rPr lang="en-US" dirty="0" smtClean="0"/>
              <a:t> import </a:t>
            </a:r>
            <a:r>
              <a:rPr lang="en-US" dirty="0" err="1" smtClean="0"/>
              <a:t>rouge_scorer</a:t>
            </a:r>
            <a:endParaRPr lang="en-US" dirty="0" smtClean="0"/>
          </a:p>
          <a:p>
            <a:pPr marL="0" indent="0">
              <a:buNone/>
            </a:pPr>
            <a:endParaRPr lang="en-US" dirty="0" smtClean="0"/>
          </a:p>
          <a:p>
            <a:pPr marL="0" indent="0">
              <a:buNone/>
            </a:pPr>
            <a:r>
              <a:rPr lang="en-US" dirty="0" smtClean="0"/>
              <a:t>scorer = </a:t>
            </a:r>
            <a:r>
              <a:rPr lang="en-US" dirty="0" err="1" smtClean="0"/>
              <a:t>rouge_scorer.RougeScorer</a:t>
            </a:r>
            <a:r>
              <a:rPr lang="en-US" dirty="0" smtClean="0"/>
              <a:t>(['rouge1', '</a:t>
            </a:r>
            <a:r>
              <a:rPr lang="en-US" dirty="0" err="1" smtClean="0"/>
              <a:t>rougeL</a:t>
            </a:r>
            <a:r>
              <a:rPr lang="en-US" dirty="0" smtClean="0"/>
              <a:t>'], </a:t>
            </a:r>
            <a:r>
              <a:rPr lang="en-US" dirty="0" err="1" smtClean="0"/>
              <a:t>use_stemmer</a:t>
            </a:r>
            <a:r>
              <a:rPr lang="en-US" dirty="0" smtClean="0"/>
              <a:t>=True)</a:t>
            </a:r>
          </a:p>
          <a:p>
            <a:pPr marL="0" indent="0">
              <a:buNone/>
            </a:pPr>
            <a:r>
              <a:rPr lang="en-US" dirty="0" smtClean="0"/>
              <a:t>scores = </a:t>
            </a:r>
            <a:r>
              <a:rPr lang="en-US" dirty="0" err="1" smtClean="0"/>
              <a:t>scorer.score</a:t>
            </a:r>
            <a:r>
              <a:rPr lang="en-US" dirty="0" smtClean="0"/>
              <a:t>('The quick brown fox jumps over the lazy dog',</a:t>
            </a:r>
          </a:p>
          <a:p>
            <a:pPr marL="0" indent="0">
              <a:buNone/>
            </a:pPr>
            <a:r>
              <a:rPr lang="en-US" dirty="0" smtClean="0"/>
              <a:t>                      'The quick brown dog jumps on the log.')</a:t>
            </a:r>
          </a:p>
          <a:p>
            <a:pPr marL="0" indent="0">
              <a:buNone/>
            </a:pPr>
            <a:r>
              <a:rPr lang="en-US" dirty="0" smtClean="0"/>
              <a:t>scores</a:t>
            </a:r>
            <a:endParaRPr lang="en-US" dirty="0"/>
          </a:p>
        </p:txBody>
      </p:sp>
    </p:spTree>
    <p:extLst>
      <p:ext uri="{BB962C8B-B14F-4D97-AF65-F5344CB8AC3E}">
        <p14:creationId xmlns:p14="http://schemas.microsoft.com/office/powerpoint/2010/main" val="388259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BLEU</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BLEU stands for </a:t>
            </a:r>
            <a:r>
              <a:rPr lang="en-US" b="1" dirty="0" smtClean="0"/>
              <a:t>Bilingual Evaluation Understudy</a:t>
            </a:r>
            <a:r>
              <a:rPr lang="en-US" dirty="0" smtClean="0"/>
              <a:t>. </a:t>
            </a:r>
          </a:p>
          <a:p>
            <a:r>
              <a:rPr lang="en-US" dirty="0" smtClean="0"/>
              <a:t>This is a really popular metric that you’ll definitely find in the literature around </a:t>
            </a:r>
            <a:r>
              <a:rPr lang="en-US" b="1" dirty="0" smtClean="0"/>
              <a:t>machine translation </a:t>
            </a:r>
            <a:r>
              <a:rPr lang="en-US" dirty="0" smtClean="0"/>
              <a:t>and was proposed in this paper in 2002. </a:t>
            </a:r>
          </a:p>
          <a:p>
            <a:r>
              <a:rPr lang="en-US" dirty="0" smtClean="0"/>
              <a:t>The metric used in </a:t>
            </a:r>
            <a:r>
              <a:rPr lang="en-US" b="1" dirty="0" smtClean="0"/>
              <a:t>comparing a candidate translation to one or more reference translations</a:t>
            </a:r>
            <a:r>
              <a:rPr lang="en-US" dirty="0" smtClean="0"/>
              <a:t>. </a:t>
            </a:r>
          </a:p>
          <a:p>
            <a:r>
              <a:rPr lang="en-US" dirty="0" smtClean="0"/>
              <a:t>And the output lies in the range of 0-1, where a score closer to 1 indicates good quality translations.</a:t>
            </a:r>
          </a:p>
          <a:p>
            <a:r>
              <a:rPr lang="en-US" dirty="0" smtClean="0"/>
              <a:t>BLEU-1, BLEU-2, BLEU-3, and BLEU-4 are some commonly calculated numbers that you’ll often find mentioned in the literature. </a:t>
            </a:r>
          </a:p>
          <a:p>
            <a:r>
              <a:rPr lang="en-US" dirty="0" smtClean="0"/>
              <a:t>Here, each of 1, 2, 3, and 4 represent the precision of the n-gram sequence that is taken into consideration while calculating the BLEU score. </a:t>
            </a:r>
            <a:endParaRPr lang="en-US" dirty="0"/>
          </a:p>
        </p:txBody>
      </p:sp>
    </p:spTree>
    <p:extLst>
      <p:ext uri="{BB962C8B-B14F-4D97-AF65-F5344CB8AC3E}">
        <p14:creationId xmlns:p14="http://schemas.microsoft.com/office/powerpoint/2010/main" val="2523082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BLEU</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import </a:t>
            </a:r>
            <a:r>
              <a:rPr lang="en-US" dirty="0" err="1" smtClean="0"/>
              <a:t>nltk</a:t>
            </a:r>
            <a:endParaRPr lang="en-US" dirty="0" smtClean="0"/>
          </a:p>
          <a:p>
            <a:pPr marL="0" indent="0">
              <a:buNone/>
            </a:pPr>
            <a:r>
              <a:rPr lang="en-US" dirty="0" smtClean="0"/>
              <a:t>from </a:t>
            </a:r>
            <a:r>
              <a:rPr lang="en-US" dirty="0" err="1" smtClean="0"/>
              <a:t>nltk.translate.bleu_score</a:t>
            </a:r>
            <a:r>
              <a:rPr lang="en-US" dirty="0" smtClean="0"/>
              <a:t> import </a:t>
            </a:r>
            <a:r>
              <a:rPr lang="en-US" dirty="0" err="1" smtClean="0"/>
              <a:t>sentence_bleu</a:t>
            </a:r>
            <a:r>
              <a:rPr lang="en-US" dirty="0" smtClean="0"/>
              <a:t>, </a:t>
            </a:r>
            <a:r>
              <a:rPr lang="en-US" dirty="0" err="1" smtClean="0"/>
              <a:t>SmoothingFunction</a:t>
            </a:r>
            <a:endParaRPr lang="en-US" dirty="0" smtClean="0"/>
          </a:p>
          <a:p>
            <a:pPr marL="0" indent="0">
              <a:buNone/>
            </a:pPr>
            <a:r>
              <a:rPr lang="en-US" dirty="0" smtClean="0"/>
              <a:t># Download NLTK data (if not already downloaded)</a:t>
            </a:r>
          </a:p>
          <a:p>
            <a:pPr marL="0" indent="0">
              <a:buNone/>
            </a:pPr>
            <a:r>
              <a:rPr lang="en-US" dirty="0" err="1" smtClean="0"/>
              <a:t>nltk.download</a:t>
            </a:r>
            <a:r>
              <a:rPr lang="en-US" dirty="0" smtClean="0"/>
              <a:t>('</a:t>
            </a:r>
            <a:r>
              <a:rPr lang="en-US" dirty="0" err="1" smtClean="0"/>
              <a:t>punkt</a:t>
            </a:r>
            <a:r>
              <a:rPr lang="en-US" dirty="0" smtClean="0"/>
              <a:t>')</a:t>
            </a:r>
          </a:p>
          <a:p>
            <a:pPr marL="0" indent="0">
              <a:buNone/>
            </a:pPr>
            <a:r>
              <a:rPr lang="en-US" dirty="0" smtClean="0"/>
              <a:t># Reference sentence (list of lists of words) - a list of one or more correct translations</a:t>
            </a:r>
          </a:p>
          <a:p>
            <a:pPr marL="0" indent="0">
              <a:buNone/>
            </a:pPr>
            <a:r>
              <a:rPr lang="en-US" dirty="0" smtClean="0"/>
              <a:t>reference = [['the', 'cat', 'is', 'on', 'the', 'mat']]</a:t>
            </a:r>
          </a:p>
          <a:p>
            <a:pPr marL="0" indent="0">
              <a:buNone/>
            </a:pPr>
            <a:r>
              <a:rPr lang="en-US" dirty="0" smtClean="0"/>
              <a:t># Generated sentence (list of words) - the machine-generated sentence</a:t>
            </a:r>
          </a:p>
          <a:p>
            <a:pPr marL="0" indent="0">
              <a:buNone/>
            </a:pPr>
            <a:r>
              <a:rPr lang="en-US" dirty="0" smtClean="0"/>
              <a:t>candidate = ['the', 'cat', 'is', 'on', 'mat']</a:t>
            </a:r>
          </a:p>
          <a:p>
            <a:pPr marL="0" indent="0">
              <a:buNone/>
            </a:pPr>
            <a:r>
              <a:rPr lang="en-US" dirty="0" smtClean="0"/>
              <a:t># Calculate BLEU score using </a:t>
            </a:r>
            <a:r>
              <a:rPr lang="en-US" dirty="0" err="1" smtClean="0"/>
              <a:t>sentence_bleu</a:t>
            </a:r>
            <a:endParaRPr lang="en-US" dirty="0" smtClean="0"/>
          </a:p>
          <a:p>
            <a:pPr marL="0" indent="0">
              <a:buNone/>
            </a:pPr>
            <a:r>
              <a:rPr lang="en-US" dirty="0" smtClean="0"/>
              <a:t># </a:t>
            </a:r>
            <a:r>
              <a:rPr lang="en-US" dirty="0" err="1" smtClean="0"/>
              <a:t>SmoothingFunction</a:t>
            </a:r>
            <a:r>
              <a:rPr lang="en-US" dirty="0" smtClean="0"/>
              <a:t> helps avoid precision issues with short sentences or when there are no matches</a:t>
            </a:r>
          </a:p>
          <a:p>
            <a:pPr marL="0" indent="0">
              <a:buNone/>
            </a:pPr>
            <a:r>
              <a:rPr lang="en-US" dirty="0" smtClean="0"/>
              <a:t>smooth = </a:t>
            </a:r>
            <a:r>
              <a:rPr lang="en-US" dirty="0" err="1" smtClean="0"/>
              <a:t>SmoothingFunction</a:t>
            </a:r>
            <a:r>
              <a:rPr lang="en-US" dirty="0" smtClean="0"/>
              <a:t>().method1</a:t>
            </a:r>
          </a:p>
          <a:p>
            <a:pPr marL="0" indent="0">
              <a:buNone/>
            </a:pPr>
            <a:r>
              <a:rPr lang="en-US" dirty="0" err="1" smtClean="0"/>
              <a:t>bleu_score</a:t>
            </a:r>
            <a:r>
              <a:rPr lang="en-US" dirty="0" smtClean="0"/>
              <a:t> = </a:t>
            </a:r>
            <a:r>
              <a:rPr lang="en-US" dirty="0" err="1" smtClean="0"/>
              <a:t>sentence_bleu</a:t>
            </a:r>
            <a:r>
              <a:rPr lang="en-US" dirty="0" smtClean="0"/>
              <a:t>(reference, candidate, </a:t>
            </a:r>
            <a:r>
              <a:rPr lang="en-US" dirty="0" err="1" smtClean="0"/>
              <a:t>smoothing_function</a:t>
            </a:r>
            <a:r>
              <a:rPr lang="en-US" dirty="0" smtClean="0"/>
              <a:t>=smooth)</a:t>
            </a:r>
          </a:p>
          <a:p>
            <a:pPr marL="0" indent="0">
              <a:buNone/>
            </a:pPr>
            <a:r>
              <a:rPr lang="en-US" dirty="0" smtClean="0"/>
              <a:t>print(</a:t>
            </a:r>
            <a:r>
              <a:rPr lang="en-US" dirty="0" err="1" smtClean="0"/>
              <a:t>f"BLEU</a:t>
            </a:r>
            <a:r>
              <a:rPr lang="en-US" dirty="0" smtClean="0"/>
              <a:t> Score: {</a:t>
            </a:r>
            <a:r>
              <a:rPr lang="en-US" dirty="0" err="1" smtClean="0"/>
              <a:t>bleu_score</a:t>
            </a:r>
            <a:r>
              <a:rPr lang="en-US" dirty="0" smtClean="0"/>
              <a:t>}")</a:t>
            </a:r>
          </a:p>
          <a:p>
            <a:pPr marL="0" indent="0">
              <a:buNone/>
            </a:pPr>
            <a:endParaRPr lang="en-US" dirty="0"/>
          </a:p>
        </p:txBody>
      </p:sp>
    </p:spTree>
    <p:extLst>
      <p:ext uri="{BB962C8B-B14F-4D97-AF65-F5344CB8AC3E}">
        <p14:creationId xmlns:p14="http://schemas.microsoft.com/office/powerpoint/2010/main" val="597010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BERTScore</a:t>
            </a:r>
            <a:endParaRPr lang="en-US" dirty="0"/>
          </a:p>
        </p:txBody>
      </p:sp>
      <p:sp>
        <p:nvSpPr>
          <p:cNvPr id="3" name="Content Placeholder 2"/>
          <p:cNvSpPr>
            <a:spLocks noGrp="1"/>
          </p:cNvSpPr>
          <p:nvPr>
            <p:ph idx="1"/>
          </p:nvPr>
        </p:nvSpPr>
        <p:spPr/>
        <p:txBody>
          <a:bodyPr/>
          <a:lstStyle/>
          <a:p>
            <a:r>
              <a:rPr lang="en-US" dirty="0" err="1" smtClean="0"/>
              <a:t>BERTScore</a:t>
            </a:r>
            <a:r>
              <a:rPr lang="en-US" dirty="0" smtClean="0"/>
              <a:t> uses BERT for calculating the quality of text generated by NLG systems. </a:t>
            </a:r>
          </a:p>
          <a:p>
            <a:r>
              <a:rPr lang="en-US" dirty="0" smtClean="0"/>
              <a:t>It was proposed pretty recently in this paper in 2020. </a:t>
            </a:r>
          </a:p>
          <a:p>
            <a:r>
              <a:rPr lang="en-US" b="1" dirty="0" smtClean="0"/>
              <a:t>Unlike most of the methods that majorly make use of token or phrasal level syntactic overlaps between hypothesis and reference text pieces, </a:t>
            </a:r>
            <a:r>
              <a:rPr lang="en-US" b="1" dirty="0" err="1" smtClean="0"/>
              <a:t>BERTScore</a:t>
            </a:r>
            <a:r>
              <a:rPr lang="en-US" b="1" dirty="0" smtClean="0"/>
              <a:t> on the other hand captures the semantic aspect by using the contextualized </a:t>
            </a:r>
            <a:r>
              <a:rPr lang="en-US" b="1" dirty="0" err="1" smtClean="0"/>
              <a:t>embeddings</a:t>
            </a:r>
            <a:r>
              <a:rPr lang="en-US" dirty="0" smtClean="0"/>
              <a:t> generated by the BERT model.</a:t>
            </a:r>
            <a:endParaRPr lang="en-US" dirty="0"/>
          </a:p>
        </p:txBody>
      </p:sp>
    </p:spTree>
    <p:extLst>
      <p:ext uri="{BB962C8B-B14F-4D97-AF65-F5344CB8AC3E}">
        <p14:creationId xmlns:p14="http://schemas.microsoft.com/office/powerpoint/2010/main" val="1334829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METEOR</a:t>
            </a:r>
            <a:endParaRPr lang="en-US" dirty="0"/>
          </a:p>
        </p:txBody>
      </p:sp>
      <p:sp>
        <p:nvSpPr>
          <p:cNvPr id="3" name="Content Placeholder 2"/>
          <p:cNvSpPr>
            <a:spLocks noGrp="1"/>
          </p:cNvSpPr>
          <p:nvPr>
            <p:ph idx="1"/>
          </p:nvPr>
        </p:nvSpPr>
        <p:spPr/>
        <p:txBody>
          <a:bodyPr>
            <a:normAutofit fontScale="77500" lnSpcReduction="20000"/>
          </a:bodyPr>
          <a:lstStyle/>
          <a:p>
            <a:endParaRPr lang="en-US" dirty="0" smtClean="0"/>
          </a:p>
          <a:p>
            <a:r>
              <a:rPr lang="en-US" dirty="0" smtClean="0"/>
              <a:t>METEOR stands for The </a:t>
            </a:r>
            <a:r>
              <a:rPr lang="en-US" b="1" dirty="0" smtClean="0"/>
              <a:t>Metric for Evaluation of Translation with Explicit Ordering</a:t>
            </a:r>
            <a:r>
              <a:rPr lang="en-US" dirty="0" smtClean="0"/>
              <a:t>. </a:t>
            </a:r>
          </a:p>
          <a:p>
            <a:r>
              <a:rPr lang="en-US" dirty="0" smtClean="0"/>
              <a:t>It can be used to evaluate output across various spectrums of tasks like Machine Translation, Text Summarization, Image Captioning, etc. </a:t>
            </a:r>
          </a:p>
          <a:p>
            <a:r>
              <a:rPr lang="en-US" dirty="0" smtClean="0"/>
              <a:t>But you’ll often find it being used in the literature on machine translation. It also claims to have a high correlation with human judgment.</a:t>
            </a:r>
          </a:p>
          <a:p>
            <a:r>
              <a:rPr lang="en-US" dirty="0" smtClean="0"/>
              <a:t>It comes with some obvious goodness compared to the BLEU metric (a popular one when it comes to evaluating o/p from Machine Translation systems) that focuses on majorly capturing the precision aspect of the generation against the ground truth. </a:t>
            </a:r>
          </a:p>
          <a:p>
            <a:r>
              <a:rPr lang="en-US" dirty="0" smtClean="0"/>
              <a:t>METEOR on the other hand is </a:t>
            </a:r>
            <a:r>
              <a:rPr lang="en-US" b="1" dirty="0" smtClean="0"/>
              <a:t>based on the idea of calculating the Harmonic mean of the unigram precision and recall</a:t>
            </a:r>
            <a:r>
              <a:rPr lang="en-US" dirty="0" smtClean="0"/>
              <a:t>, </a:t>
            </a:r>
            <a:r>
              <a:rPr lang="en-US" b="1" dirty="0" smtClean="0"/>
              <a:t>where recall is given more weight over precision</a:t>
            </a:r>
            <a:r>
              <a:rPr lang="en-US" dirty="0" smtClean="0"/>
              <a:t>. </a:t>
            </a:r>
          </a:p>
          <a:p>
            <a:r>
              <a:rPr lang="en-US" dirty="0" smtClean="0"/>
              <a:t>Giving </a:t>
            </a:r>
            <a:r>
              <a:rPr lang="en-US" b="1" dirty="0" smtClean="0"/>
              <a:t>greater weight to recall allows us to understand more about how much of the ground truth have we produced as a part of output </a:t>
            </a:r>
            <a:r>
              <a:rPr lang="en-US" dirty="0" smtClean="0"/>
              <a:t>during the generation process. </a:t>
            </a:r>
            <a:endParaRPr lang="en-US" dirty="0"/>
          </a:p>
        </p:txBody>
      </p:sp>
    </p:spTree>
    <p:extLst>
      <p:ext uri="{BB962C8B-B14F-4D97-AF65-F5344CB8AC3E}">
        <p14:creationId xmlns:p14="http://schemas.microsoft.com/office/powerpoint/2010/main" val="3603418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Self-BLEU</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Self-BLEU is a smart use of the traditional BLEU metric for capturing and quantifying </a:t>
            </a:r>
            <a:r>
              <a:rPr lang="en-US" b="1" dirty="0" smtClean="0"/>
              <a:t>diversity in the generated text</a:t>
            </a:r>
            <a:r>
              <a:rPr lang="en-US" dirty="0" smtClean="0"/>
              <a:t>. </a:t>
            </a:r>
          </a:p>
          <a:p>
            <a:r>
              <a:rPr lang="en-US" dirty="0" smtClean="0"/>
              <a:t>The lower the value of the self-bleu score, the higher the diversity in the generated text. </a:t>
            </a:r>
          </a:p>
          <a:p>
            <a:r>
              <a:rPr lang="en-US" dirty="0" smtClean="0"/>
              <a:t>Long text generation tasks like story generation, news generation, </a:t>
            </a:r>
            <a:r>
              <a:rPr lang="en-US" dirty="0" err="1" smtClean="0"/>
              <a:t>etc</a:t>
            </a:r>
            <a:r>
              <a:rPr lang="en-US" dirty="0" smtClean="0"/>
              <a:t> could be a good fit to keep an eye on such metrics, helping evaluate the redundancy and monotonicity in the model. </a:t>
            </a:r>
          </a:p>
          <a:p>
            <a:r>
              <a:rPr lang="en-US" dirty="0" smtClean="0"/>
              <a:t>This metric can be complemented with other text generation evaluation metrics that account for the goodness and relevance of the generated text. </a:t>
            </a:r>
          </a:p>
          <a:p>
            <a:r>
              <a:rPr lang="en-US" b="1" dirty="0" smtClean="0"/>
              <a:t>A sweet spot of relevance and diversity would make a perfectly blended output</a:t>
            </a:r>
            <a:r>
              <a:rPr lang="en-US" dirty="0" smtClean="0"/>
              <a:t>.</a:t>
            </a:r>
            <a:endParaRPr lang="en-US" dirty="0"/>
          </a:p>
        </p:txBody>
      </p:sp>
    </p:spTree>
    <p:extLst>
      <p:ext uri="{BB962C8B-B14F-4D97-AF65-F5344CB8AC3E}">
        <p14:creationId xmlns:p14="http://schemas.microsoft.com/office/powerpoint/2010/main" val="151558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real world evaluation measures</a:t>
            </a:r>
            <a:endParaRPr lang="en-US" dirty="0"/>
          </a:p>
        </p:txBody>
      </p:sp>
      <p:sp>
        <p:nvSpPr>
          <p:cNvPr id="4" name="Rectangle 1"/>
          <p:cNvSpPr>
            <a:spLocks noGrp="1" noChangeArrowheads="1"/>
          </p:cNvSpPr>
          <p:nvPr>
            <p:ph idx="1"/>
          </p:nvPr>
        </p:nvSpPr>
        <p:spPr bwMode="auto">
          <a:xfrm>
            <a:off x="838200" y="2293134"/>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smtClean="0">
                <a:ln>
                  <a:noFill/>
                </a:ln>
                <a:solidFill>
                  <a:schemeClr val="tx1"/>
                </a:solidFill>
                <a:effectLst/>
                <a:latin typeface="Arial" panose="020B0604020202020204" pitchFamily="34" charset="0"/>
              </a:rPr>
              <a:t>IFEval</a:t>
            </a:r>
            <a:r>
              <a:rPr kumimoji="0" lang="en-US" altLang="en-US" sz="1800" b="0" i="0" u="none" strike="noStrike" cap="none" normalizeH="0" baseline="0" dirty="0" smtClean="0">
                <a:ln>
                  <a:noFill/>
                </a:ln>
                <a:solidFill>
                  <a:schemeClr val="tx1"/>
                </a:solidFill>
                <a:effectLst/>
                <a:latin typeface="Arial" panose="020B0604020202020204" pitchFamily="34" charset="0"/>
              </a:rPr>
              <a:t>: This stand for </a:t>
            </a:r>
            <a:r>
              <a:rPr kumimoji="0" lang="en-US" altLang="en-US" sz="1800" b="0" i="1" u="none" strike="noStrike" cap="none" normalizeH="0" baseline="0" dirty="0" smtClean="0">
                <a:ln>
                  <a:noFill/>
                </a:ln>
                <a:solidFill>
                  <a:schemeClr val="tx1"/>
                </a:solidFill>
                <a:effectLst/>
                <a:latin typeface="Arial" panose="020B0604020202020204" pitchFamily="34" charset="0"/>
              </a:rPr>
              <a:t>Instruction Following Evaluation</a:t>
            </a:r>
            <a:r>
              <a:rPr kumimoji="0" lang="en-US" altLang="en-US" sz="1800" b="0" i="0" u="none" strike="noStrike" cap="none" normalizeH="0" baseline="0" dirty="0" smtClean="0">
                <a:ln>
                  <a:noFill/>
                </a:ln>
                <a:solidFill>
                  <a:schemeClr val="tx1"/>
                </a:solidFill>
                <a:effectLst/>
                <a:latin typeface="Arial" panose="020B0604020202020204" pitchFamily="34" charset="0"/>
              </a:rPr>
              <a:t>. It tests </a:t>
            </a:r>
            <a:r>
              <a:rPr kumimoji="0" lang="en-US" altLang="en-US" sz="1800" b="1" i="0" u="none" strike="noStrike" cap="none" normalizeH="0" baseline="0" dirty="0" smtClean="0">
                <a:ln>
                  <a:noFill/>
                </a:ln>
                <a:solidFill>
                  <a:schemeClr val="tx1"/>
                </a:solidFill>
                <a:effectLst/>
                <a:latin typeface="Arial" panose="020B0604020202020204" pitchFamily="34" charset="0"/>
              </a:rPr>
              <a:t>how well a model follows user instructions </a:t>
            </a:r>
            <a:r>
              <a:rPr kumimoji="0" lang="en-US" altLang="en-US" sz="1800" b="0" i="0" u="none" strike="noStrike" cap="none" normalizeH="0" baseline="0" dirty="0" smtClean="0">
                <a:ln>
                  <a:noFill/>
                </a:ln>
                <a:solidFill>
                  <a:schemeClr val="tx1"/>
                </a:solidFill>
                <a:effectLst/>
                <a:latin typeface="Arial" panose="020B0604020202020204" pitchFamily="34" charset="0"/>
              </a:rPr>
              <a:t>when given specific tasks. High scores indicate good instruction adherence and usefulness.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BBH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The </a:t>
            </a:r>
            <a:r>
              <a:rPr kumimoji="0" lang="en-US" altLang="en-US" sz="1800" b="1" i="1" u="none" strike="noStrike" cap="none" normalizeH="0" baseline="0" dirty="0" smtClean="0">
                <a:ln>
                  <a:noFill/>
                </a:ln>
                <a:solidFill>
                  <a:schemeClr val="tx1"/>
                </a:solidFill>
                <a:effectLst/>
                <a:latin typeface="Arial" panose="020B0604020202020204" pitchFamily="34" charset="0"/>
              </a:rPr>
              <a:t>Big-Bench Hard (BBH)</a:t>
            </a:r>
            <a:r>
              <a:rPr kumimoji="0" lang="en-US" altLang="en-US" sz="1800" b="1" i="0" u="none" strike="noStrike" cap="none" normalizeH="0" baseline="0" dirty="0" smtClean="0">
                <a:ln>
                  <a:noFill/>
                </a:ln>
                <a:solidFill>
                  <a:schemeClr val="tx1"/>
                </a:solidFill>
                <a:effectLst/>
                <a:latin typeface="Arial" panose="020B0604020202020204" pitchFamily="34" charset="0"/>
              </a:rPr>
              <a:t> dataset is a collection of difficult, open-ended tasks that challenge a model’s reasoning</a:t>
            </a:r>
            <a:r>
              <a:rPr kumimoji="0" lang="en-US" altLang="en-US" sz="1800" b="0" i="0" u="none" strike="noStrike" cap="none" normalizeH="0" baseline="0" dirty="0" smtClean="0">
                <a:ln>
                  <a:noFill/>
                </a:ln>
                <a:solidFill>
                  <a:schemeClr val="tx1"/>
                </a:solidFill>
                <a:effectLst/>
                <a:latin typeface="Arial" panose="020B0604020202020204" pitchFamily="34" charset="0"/>
              </a:rPr>
              <a:t> and general knowledge capabilities.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MATH </a:t>
            </a:r>
            <a:r>
              <a:rPr kumimoji="0" lang="en-US" altLang="en-US" sz="1800" b="1" i="0" u="none" strike="noStrike" cap="none" normalizeH="0" baseline="0" dirty="0" err="1" smtClean="0">
                <a:ln>
                  <a:noFill/>
                </a:ln>
                <a:solidFill>
                  <a:schemeClr val="tx1"/>
                </a:solidFill>
                <a:effectLst/>
                <a:latin typeface="Arial" panose="020B0604020202020204" pitchFamily="34" charset="0"/>
              </a:rPr>
              <a:t>Lvl</a:t>
            </a:r>
            <a:r>
              <a:rPr kumimoji="0" lang="en-US" altLang="en-US" sz="1800" b="1" i="0" u="none" strike="noStrike" cap="none" normalizeH="0" baseline="0" dirty="0" smtClean="0">
                <a:ln>
                  <a:noFill/>
                </a:ln>
                <a:solidFill>
                  <a:schemeClr val="tx1"/>
                </a:solidFill>
                <a:effectLst/>
                <a:latin typeface="Arial" panose="020B0604020202020204" pitchFamily="34" charset="0"/>
              </a:rPr>
              <a:t> 5</a:t>
            </a:r>
            <a:r>
              <a:rPr kumimoji="0" lang="en-US" altLang="en-US" sz="1800" b="0" i="0" u="none" strike="noStrike" cap="none" normalizeH="0" baseline="0" dirty="0" smtClean="0">
                <a:ln>
                  <a:noFill/>
                </a:ln>
                <a:solidFill>
                  <a:schemeClr val="tx1"/>
                </a:solidFill>
                <a:effectLst/>
                <a:latin typeface="Arial" panose="020B0604020202020204" pitchFamily="34" charset="0"/>
              </a:rPr>
              <a:t>: This refers to the model’s </a:t>
            </a:r>
            <a:r>
              <a:rPr kumimoji="0" lang="en-US" altLang="en-US" sz="1800" b="1" i="0" u="none" strike="noStrike" cap="none" normalizeH="0" baseline="0" dirty="0" smtClean="0">
                <a:ln>
                  <a:noFill/>
                </a:ln>
                <a:solidFill>
                  <a:schemeClr val="tx1"/>
                </a:solidFill>
                <a:effectLst/>
                <a:latin typeface="Arial" panose="020B0604020202020204" pitchFamily="34" charset="0"/>
              </a:rPr>
              <a:t>performance on advanced mathematical </a:t>
            </a:r>
            <a:r>
              <a:rPr kumimoji="0" lang="en-US" altLang="en-US" sz="1800" b="0" i="0" u="none" strike="noStrike" cap="none" normalizeH="0" baseline="0" dirty="0" smtClean="0">
                <a:ln>
                  <a:noFill/>
                </a:ln>
                <a:solidFill>
                  <a:schemeClr val="tx1"/>
                </a:solidFill>
                <a:effectLst/>
                <a:latin typeface="Arial" panose="020B0604020202020204" pitchFamily="34" charset="0"/>
              </a:rPr>
              <a:t>tasks (Level 5 difficulty), testing its capability to handle complex mathematical reasoning.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GPQA (General Purpose Question Answering)</a:t>
            </a:r>
            <a:r>
              <a:rPr kumimoji="0" lang="en-US" altLang="en-US" sz="1800" b="0" i="0" u="none" strike="noStrike" cap="none" normalizeH="0" baseline="0" dirty="0" smtClean="0">
                <a:ln>
                  <a:noFill/>
                </a:ln>
                <a:solidFill>
                  <a:schemeClr val="tx1"/>
                </a:solidFill>
                <a:effectLst/>
                <a:latin typeface="Arial" panose="020B0604020202020204" pitchFamily="34" charset="0"/>
              </a:rPr>
              <a:t>: This benchmark tests a model’s </a:t>
            </a:r>
            <a:r>
              <a:rPr kumimoji="0" lang="en-US" altLang="en-US" sz="1800" b="1" i="0" u="none" strike="noStrike" cap="none" normalizeH="0" baseline="0" dirty="0" smtClean="0">
                <a:ln>
                  <a:noFill/>
                </a:ln>
                <a:solidFill>
                  <a:schemeClr val="tx1"/>
                </a:solidFill>
                <a:effectLst/>
                <a:latin typeface="Arial" panose="020B0604020202020204" pitchFamily="34" charset="0"/>
              </a:rPr>
              <a:t>ability to answer general-purpose questions,</a:t>
            </a:r>
            <a:r>
              <a:rPr kumimoji="0" lang="en-US" altLang="en-US" sz="1800" b="0" i="0" u="none" strike="noStrike" cap="none" normalizeH="0" baseline="0" dirty="0" smtClean="0">
                <a:ln>
                  <a:noFill/>
                </a:ln>
                <a:solidFill>
                  <a:schemeClr val="tx1"/>
                </a:solidFill>
                <a:effectLst/>
                <a:latin typeface="Arial" panose="020B0604020202020204" pitchFamily="34" charset="0"/>
              </a:rPr>
              <a:t> assessing the </a:t>
            </a:r>
            <a:r>
              <a:rPr kumimoji="0" lang="en-US" altLang="en-US" sz="1800" b="1" i="0" u="none" strike="noStrike" cap="none" normalizeH="0" baseline="0" dirty="0" smtClean="0">
                <a:ln>
                  <a:noFill/>
                </a:ln>
                <a:solidFill>
                  <a:schemeClr val="tx1"/>
                </a:solidFill>
                <a:effectLst/>
                <a:latin typeface="Arial" panose="020B0604020202020204" pitchFamily="34" charset="0"/>
              </a:rPr>
              <a:t>breadth of knowledge </a:t>
            </a:r>
            <a:r>
              <a:rPr kumimoji="0" lang="en-US" altLang="en-US" sz="1800" b="0" i="0" u="none" strike="noStrike" cap="none" normalizeH="0" baseline="0" dirty="0" smtClean="0">
                <a:ln>
                  <a:noFill/>
                </a:ln>
                <a:solidFill>
                  <a:schemeClr val="tx1"/>
                </a:solidFill>
                <a:effectLst/>
                <a:latin typeface="Arial" panose="020B0604020202020204" pitchFamily="34" charset="0"/>
              </a:rPr>
              <a:t>and comprehension.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MMLU-PRO</a:t>
            </a:r>
            <a:r>
              <a:rPr kumimoji="0" lang="en-US" altLang="en-US" sz="1800" b="0" i="0" u="none" strike="noStrike" cap="none" normalizeH="0" baseline="0" dirty="0" smtClean="0">
                <a:ln>
                  <a:noFill/>
                </a:ln>
                <a:solidFill>
                  <a:schemeClr val="tx1"/>
                </a:solidFill>
                <a:effectLst/>
                <a:latin typeface="Arial" panose="020B0604020202020204" pitchFamily="34" charset="0"/>
              </a:rPr>
              <a:t>: The </a:t>
            </a:r>
            <a:r>
              <a:rPr kumimoji="0" lang="en-US" altLang="en-US" sz="1800" b="0" i="1" u="none" strike="noStrike" cap="none" normalizeH="0" baseline="0" dirty="0" smtClean="0">
                <a:ln>
                  <a:noFill/>
                </a:ln>
                <a:solidFill>
                  <a:schemeClr val="tx1"/>
                </a:solidFill>
                <a:effectLst/>
                <a:latin typeface="Arial" panose="020B0604020202020204" pitchFamily="34" charset="0"/>
              </a:rPr>
              <a:t>Massive Multitask Language Understanding</a:t>
            </a:r>
            <a:r>
              <a:rPr kumimoji="0" lang="en-US" altLang="en-US" sz="1800" b="0" i="0" u="none" strike="noStrike" cap="none" normalizeH="0" baseline="0" dirty="0" smtClean="0">
                <a:ln>
                  <a:noFill/>
                </a:ln>
                <a:solidFill>
                  <a:schemeClr val="tx1"/>
                </a:solidFill>
                <a:effectLst/>
                <a:latin typeface="Arial" panose="020B0604020202020204" pitchFamily="34" charset="0"/>
              </a:rPr>
              <a:t> benchmark, focusing on </a:t>
            </a:r>
            <a:r>
              <a:rPr kumimoji="0" lang="en-US" altLang="en-US" sz="1800" b="1" i="0" u="none" strike="noStrike" cap="none" normalizeH="0" baseline="0" dirty="0" smtClean="0">
                <a:ln>
                  <a:noFill/>
                </a:ln>
                <a:solidFill>
                  <a:schemeClr val="tx1"/>
                </a:solidFill>
                <a:effectLst/>
                <a:latin typeface="Arial" panose="020B0604020202020204" pitchFamily="34" charset="0"/>
              </a:rPr>
              <a:t>professional-level exams (like law, medicine</a:t>
            </a:r>
            <a:r>
              <a:rPr kumimoji="0" lang="en-US" altLang="en-US" sz="1800" b="0" i="0" u="none" strike="noStrike" cap="none" normalizeH="0" baseline="0" dirty="0" smtClean="0">
                <a:ln>
                  <a:noFill/>
                </a:ln>
                <a:solidFill>
                  <a:schemeClr val="tx1"/>
                </a:solidFill>
                <a:effectLst/>
                <a:latin typeface="Arial" panose="020B0604020202020204" pitchFamily="34" charset="0"/>
              </a:rPr>
              <a:t>), tests a model’s domain knowledge and understanding across various fields.</a:t>
            </a:r>
          </a:p>
        </p:txBody>
      </p:sp>
    </p:spTree>
    <p:extLst>
      <p:ext uri="{BB962C8B-B14F-4D97-AF65-F5344CB8AC3E}">
        <p14:creationId xmlns:p14="http://schemas.microsoft.com/office/powerpoint/2010/main" val="3400947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LLM Evaluation boards</a:t>
            </a:r>
            <a:endParaRPr lang="en-US" dirty="0"/>
          </a:p>
        </p:txBody>
      </p:sp>
      <p:sp>
        <p:nvSpPr>
          <p:cNvPr id="3" name="Content Placeholder 2"/>
          <p:cNvSpPr>
            <a:spLocks noGrp="1"/>
          </p:cNvSpPr>
          <p:nvPr>
            <p:ph idx="1"/>
          </p:nvPr>
        </p:nvSpPr>
        <p:spPr/>
        <p:txBody>
          <a:bodyPr/>
          <a:lstStyle/>
          <a:p>
            <a:pPr marL="0" indent="0">
              <a:buNone/>
            </a:pPr>
            <a:r>
              <a:rPr lang="en-US" dirty="0" smtClean="0">
                <a:hlinkClick r:id="rId2"/>
              </a:rPr>
              <a:t>https://huggingface.co/spaces/lmsys/chatbot-arena-leaderboard</a:t>
            </a:r>
            <a:endParaRPr lang="en-US" dirty="0" smtClean="0"/>
          </a:p>
          <a:p>
            <a:r>
              <a:rPr lang="en-US" dirty="0" smtClean="0"/>
              <a:t>Includes all LLMs both open source and propriety</a:t>
            </a:r>
          </a:p>
          <a:p>
            <a:pPr marL="0" indent="0">
              <a:buNone/>
            </a:pPr>
            <a:r>
              <a:rPr lang="en-US" dirty="0" smtClean="0">
                <a:hlinkClick r:id="rId3"/>
              </a:rPr>
              <a:t>https://huggingface.co/spaces/open-llm-leaderboard/open_llm_leaderboard</a:t>
            </a:r>
            <a:endParaRPr lang="en-US" dirty="0" smtClean="0"/>
          </a:p>
          <a:p>
            <a:r>
              <a:rPr lang="en-US" dirty="0" smtClean="0"/>
              <a:t>Includes only </a:t>
            </a:r>
            <a:r>
              <a:rPr lang="en-US" dirty="0" err="1" smtClean="0"/>
              <a:t>opensource</a:t>
            </a:r>
            <a:r>
              <a:rPr lang="en-US" dirty="0"/>
              <a:t> </a:t>
            </a:r>
            <a:r>
              <a:rPr lang="en-US" dirty="0" smtClean="0"/>
              <a:t>LLMs</a:t>
            </a:r>
          </a:p>
          <a:p>
            <a:endParaRPr lang="en-US" dirty="0"/>
          </a:p>
        </p:txBody>
      </p:sp>
    </p:spTree>
    <p:extLst>
      <p:ext uri="{BB962C8B-B14F-4D97-AF65-F5344CB8AC3E}">
        <p14:creationId xmlns:p14="http://schemas.microsoft.com/office/powerpoint/2010/main" val="1866081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a:t>
            </a:r>
            <a:r>
              <a:rPr lang="en-US" dirty="0" err="1" smtClean="0"/>
              <a:t>Gemni</a:t>
            </a:r>
            <a:r>
              <a:rPr lang="en-US" dirty="0" smtClean="0"/>
              <a:t> API Overview for Generative AI Projects</a:t>
            </a:r>
            <a:endParaRPr lang="en-US" dirty="0"/>
          </a:p>
        </p:txBody>
      </p:sp>
    </p:spTree>
    <p:extLst>
      <p:ext uri="{BB962C8B-B14F-4D97-AF65-F5344CB8AC3E}">
        <p14:creationId xmlns:p14="http://schemas.microsoft.com/office/powerpoint/2010/main" val="2057712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a:t>
            </a:r>
            <a:r>
              <a:rPr lang="en-US" dirty="0" err="1" smtClean="0"/>
              <a:t>Gemni</a:t>
            </a:r>
            <a:r>
              <a:rPr lang="en-US" dirty="0" smtClean="0"/>
              <a:t> API Overview</a:t>
            </a:r>
            <a:endParaRPr lang="en-US" dirty="0"/>
          </a:p>
        </p:txBody>
      </p:sp>
      <p:sp>
        <p:nvSpPr>
          <p:cNvPr id="3" name="Content Placeholder 2"/>
          <p:cNvSpPr>
            <a:spLocks noGrp="1"/>
          </p:cNvSpPr>
          <p:nvPr>
            <p:ph idx="1"/>
          </p:nvPr>
        </p:nvSpPr>
        <p:spPr/>
        <p:txBody>
          <a:bodyPr/>
          <a:lstStyle/>
          <a:p>
            <a:r>
              <a:rPr lang="en-US" dirty="0">
                <a:hlinkClick r:id="rId2"/>
              </a:rPr>
              <a:t>https://aistudio.google.com</a:t>
            </a:r>
            <a:r>
              <a:rPr lang="en-US" dirty="0" smtClean="0">
                <a:hlinkClick r:id="rId2"/>
              </a:rPr>
              <a:t>/</a:t>
            </a:r>
            <a:endParaRPr lang="en-US" dirty="0" smtClean="0"/>
          </a:p>
          <a:p>
            <a:r>
              <a:rPr lang="en-US" dirty="0">
                <a:hlinkClick r:id="rId3"/>
              </a:rPr>
              <a:t>https://</a:t>
            </a:r>
            <a:r>
              <a:rPr lang="en-US" dirty="0" smtClean="0">
                <a:hlinkClick r:id="rId3"/>
              </a:rPr>
              <a:t>ai.google.dev/gemini-api/docs</a:t>
            </a:r>
            <a:endParaRPr lang="en-US" dirty="0" smtClean="0"/>
          </a:p>
          <a:p>
            <a:endParaRPr lang="en-US" dirty="0"/>
          </a:p>
        </p:txBody>
      </p:sp>
    </p:spTree>
    <p:extLst>
      <p:ext uri="{BB962C8B-B14F-4D97-AF65-F5344CB8AC3E}">
        <p14:creationId xmlns:p14="http://schemas.microsoft.com/office/powerpoint/2010/main" val="2857363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Fine-tuning</a:t>
            </a:r>
            <a:endParaRPr lang="en-US" dirty="0"/>
          </a:p>
        </p:txBody>
      </p:sp>
    </p:spTree>
    <p:extLst>
      <p:ext uri="{BB962C8B-B14F-4D97-AF65-F5344CB8AC3E}">
        <p14:creationId xmlns:p14="http://schemas.microsoft.com/office/powerpoint/2010/main" val="1531552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Fine-tuning</a:t>
            </a:r>
            <a:endParaRPr lang="en-US" dirty="0"/>
          </a:p>
        </p:txBody>
      </p:sp>
      <p:sp>
        <p:nvSpPr>
          <p:cNvPr id="3" name="Content Placeholder 2"/>
          <p:cNvSpPr>
            <a:spLocks noGrp="1"/>
          </p:cNvSpPr>
          <p:nvPr>
            <p:ph idx="1"/>
          </p:nvPr>
        </p:nvSpPr>
        <p:spPr/>
        <p:txBody>
          <a:bodyPr>
            <a:normAutofit/>
          </a:bodyPr>
          <a:lstStyle/>
          <a:p>
            <a:r>
              <a:rPr lang="en-US" dirty="0" smtClean="0"/>
              <a:t>Training </a:t>
            </a:r>
            <a:r>
              <a:rPr lang="en-US" dirty="0"/>
              <a:t>behemoths like </a:t>
            </a:r>
            <a:r>
              <a:rPr lang="en-US" b="1" dirty="0"/>
              <a:t>GPT-4 demands immense resources</a:t>
            </a:r>
            <a:r>
              <a:rPr lang="en-US" dirty="0"/>
              <a:t>, often running into </a:t>
            </a:r>
            <a:r>
              <a:rPr lang="en-US" b="1" dirty="0"/>
              <a:t>millions of dollars</a:t>
            </a:r>
            <a:r>
              <a:rPr lang="en-US" dirty="0"/>
              <a:t>, making it impractical for widespread use in production settings. </a:t>
            </a:r>
            <a:endParaRPr lang="en-US" dirty="0" smtClean="0"/>
          </a:p>
          <a:p>
            <a:r>
              <a:rPr lang="en-US" dirty="0" smtClean="0"/>
              <a:t>Consequently</a:t>
            </a:r>
            <a:r>
              <a:rPr lang="en-US" dirty="0"/>
              <a:t>, </a:t>
            </a:r>
            <a:r>
              <a:rPr lang="en-US" b="1" dirty="0"/>
              <a:t>smaller models are employed, tailored to specific tasks to mitigate costs</a:t>
            </a:r>
            <a:r>
              <a:rPr lang="en-US" dirty="0"/>
              <a:t>. </a:t>
            </a:r>
            <a:endParaRPr lang="en-US" dirty="0" smtClean="0"/>
          </a:p>
          <a:p>
            <a:r>
              <a:rPr lang="en-US" dirty="0" smtClean="0"/>
              <a:t>However</a:t>
            </a:r>
            <a:r>
              <a:rPr lang="en-US" dirty="0"/>
              <a:t>, this approach introduces its own set of challenges, notably a </a:t>
            </a:r>
            <a:r>
              <a:rPr lang="en-US" b="1" dirty="0"/>
              <a:t>lack of generalizability across diverse tasks</a:t>
            </a:r>
            <a:r>
              <a:rPr lang="en-US" dirty="0"/>
              <a:t>, leading to a proliferation of models catering to the nuanced needs of different users.</a:t>
            </a:r>
          </a:p>
        </p:txBody>
      </p:sp>
    </p:spTree>
    <p:extLst>
      <p:ext uri="{BB962C8B-B14F-4D97-AF65-F5344CB8AC3E}">
        <p14:creationId xmlns:p14="http://schemas.microsoft.com/office/powerpoint/2010/main" val="87217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Fine-tuning</a:t>
            </a:r>
            <a:endParaRPr lang="en-US" dirty="0"/>
          </a:p>
        </p:txBody>
      </p:sp>
      <p:sp>
        <p:nvSpPr>
          <p:cNvPr id="3" name="Content Placeholder 2"/>
          <p:cNvSpPr>
            <a:spLocks noGrp="1"/>
          </p:cNvSpPr>
          <p:nvPr>
            <p:ph idx="1"/>
          </p:nvPr>
        </p:nvSpPr>
        <p:spPr/>
        <p:txBody>
          <a:bodyPr/>
          <a:lstStyle/>
          <a:p>
            <a:r>
              <a:rPr lang="en-US" dirty="0"/>
              <a:t>This is where </a:t>
            </a:r>
            <a:r>
              <a:rPr lang="en-US" b="1" dirty="0"/>
              <a:t>Parameter Efficient Fine Tuning (PEFT) </a:t>
            </a:r>
            <a:r>
              <a:rPr lang="en-US" dirty="0"/>
              <a:t>techniques such as </a:t>
            </a:r>
            <a:r>
              <a:rPr lang="en-US" b="1" dirty="0" err="1"/>
              <a:t>LoRA</a:t>
            </a:r>
            <a:r>
              <a:rPr lang="en-US" b="1" dirty="0"/>
              <a:t> (Low-Rank Adaptation) and </a:t>
            </a:r>
            <a:r>
              <a:rPr lang="en-US" b="1" dirty="0" err="1"/>
              <a:t>QLoRA</a:t>
            </a:r>
            <a:r>
              <a:rPr lang="en-US" b="1" dirty="0"/>
              <a:t> (Quantized </a:t>
            </a:r>
            <a:r>
              <a:rPr lang="en-US" b="1" dirty="0" err="1"/>
              <a:t>LoRA</a:t>
            </a:r>
            <a:r>
              <a:rPr lang="en-US" b="1" dirty="0"/>
              <a:t>)</a:t>
            </a:r>
            <a:r>
              <a:rPr lang="en-US" dirty="0"/>
              <a:t> come into play, offering a beacon of efficiency in the fine-tuning process. </a:t>
            </a:r>
            <a:endParaRPr lang="en-US" dirty="0" smtClean="0"/>
          </a:p>
          <a:p>
            <a:r>
              <a:rPr lang="en-US" dirty="0" smtClean="0"/>
              <a:t>By </a:t>
            </a:r>
            <a:r>
              <a:rPr lang="en-US" dirty="0"/>
              <a:t>enabling significant modifications to a model's behavior with minimal adjustments to its architecture, </a:t>
            </a:r>
            <a:r>
              <a:rPr lang="en-US" b="1" dirty="0"/>
              <a:t>PEFT techniques allow for the efficient training of large models</a:t>
            </a:r>
            <a:r>
              <a:rPr lang="en-US" dirty="0"/>
              <a:t>, addressing the pivotal challenges of cost and computational resource requirements.</a:t>
            </a:r>
          </a:p>
        </p:txBody>
      </p:sp>
    </p:spTree>
    <p:extLst>
      <p:ext uri="{BB962C8B-B14F-4D97-AF65-F5344CB8AC3E}">
        <p14:creationId xmlns:p14="http://schemas.microsoft.com/office/powerpoint/2010/main" val="2667711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PEFT </a:t>
            </a:r>
            <a:r>
              <a:rPr lang="en-US" dirty="0" err="1"/>
              <a:t>Finetuning</a:t>
            </a:r>
            <a:r>
              <a:rPr lang="en-US" dirty="0" smtClean="0"/>
              <a:t>?</a:t>
            </a:r>
            <a:endParaRPr lang="en-US" dirty="0"/>
          </a:p>
        </p:txBody>
      </p:sp>
      <p:sp>
        <p:nvSpPr>
          <p:cNvPr id="3" name="Content Placeholder 2"/>
          <p:cNvSpPr>
            <a:spLocks noGrp="1"/>
          </p:cNvSpPr>
          <p:nvPr>
            <p:ph idx="1"/>
          </p:nvPr>
        </p:nvSpPr>
        <p:spPr/>
        <p:txBody>
          <a:bodyPr/>
          <a:lstStyle/>
          <a:p>
            <a:r>
              <a:rPr lang="en-US" dirty="0" smtClean="0"/>
              <a:t>PEFT </a:t>
            </a:r>
            <a:r>
              <a:rPr lang="en-US" dirty="0" err="1"/>
              <a:t>Finetuning</a:t>
            </a:r>
            <a:r>
              <a:rPr lang="en-US" dirty="0"/>
              <a:t> stands for Parameter Efficient Fine Tuning, a suite of techniques designed to fine-tune and train models more efficiently than traditional methods. </a:t>
            </a:r>
            <a:endParaRPr lang="en-US" dirty="0" smtClean="0"/>
          </a:p>
          <a:p>
            <a:r>
              <a:rPr lang="en-US" dirty="0" smtClean="0"/>
              <a:t>By </a:t>
            </a:r>
            <a:r>
              <a:rPr lang="en-US" b="1" dirty="0"/>
              <a:t>reducing the number of trainable parameters </a:t>
            </a:r>
            <a:r>
              <a:rPr lang="en-US" dirty="0"/>
              <a:t>in a neural network, PEFT techniques, including </a:t>
            </a:r>
            <a:r>
              <a:rPr lang="en-US" b="1" dirty="0"/>
              <a:t>Prefix Tuning, P-tuning, </a:t>
            </a:r>
            <a:r>
              <a:rPr lang="en-US" b="1" dirty="0" err="1"/>
              <a:t>LoRA</a:t>
            </a:r>
            <a:r>
              <a:rPr lang="en-US" dirty="0"/>
              <a:t>, and others, enhance training efficiency. </a:t>
            </a:r>
            <a:endParaRPr lang="en-US" dirty="0" smtClean="0"/>
          </a:p>
          <a:p>
            <a:r>
              <a:rPr lang="en-US" b="1" dirty="0" err="1" smtClean="0"/>
              <a:t>LoRA</a:t>
            </a:r>
            <a:r>
              <a:rPr lang="en-US" dirty="0"/>
              <a:t>, in particular, has gained prominence for its effectiveness and has spawned various adaptations like </a:t>
            </a:r>
            <a:r>
              <a:rPr lang="en-US" b="1" dirty="0" err="1"/>
              <a:t>QLoRA</a:t>
            </a:r>
            <a:r>
              <a:rPr lang="en-US" dirty="0"/>
              <a:t> and </a:t>
            </a:r>
            <a:r>
              <a:rPr lang="en-US" dirty="0" err="1"/>
              <a:t>LongLoRA</a:t>
            </a:r>
            <a:r>
              <a:rPr lang="en-US" dirty="0"/>
              <a:t>, each tailored for specific applications.</a:t>
            </a:r>
          </a:p>
        </p:txBody>
      </p:sp>
    </p:spTree>
    <p:extLst>
      <p:ext uri="{BB962C8B-B14F-4D97-AF65-F5344CB8AC3E}">
        <p14:creationId xmlns:p14="http://schemas.microsoft.com/office/powerpoint/2010/main" val="368158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Rationale Behind PEFT </a:t>
            </a:r>
            <a:r>
              <a:rPr lang="en-US" dirty="0" err="1" smtClean="0"/>
              <a:t>Finetuning</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adoption of PEFT techniques is driven by several compelling benefits, particularly for enterprises and large businesses seeking to fine-tune LLMs</a:t>
            </a:r>
            <a:r>
              <a:rPr lang="en-US" dirty="0" smtClean="0"/>
              <a:t>:</a:t>
            </a:r>
            <a:endParaRPr lang="en-US" dirty="0"/>
          </a:p>
          <a:p>
            <a:pPr lvl="1"/>
            <a:r>
              <a:rPr lang="en-US" b="1" dirty="0"/>
              <a:t>Saves Time</a:t>
            </a:r>
            <a:r>
              <a:rPr lang="en-US" dirty="0"/>
              <a:t>: By </a:t>
            </a:r>
            <a:r>
              <a:rPr lang="en-US" b="1" dirty="0"/>
              <a:t>decreasing the number of trainable parameters</a:t>
            </a:r>
            <a:r>
              <a:rPr lang="en-US" dirty="0"/>
              <a:t>, </a:t>
            </a:r>
            <a:r>
              <a:rPr lang="en-US" b="1" dirty="0"/>
              <a:t>models can be trained and tested more rapidly</a:t>
            </a:r>
            <a:r>
              <a:rPr lang="en-US" dirty="0"/>
              <a:t>, freeing up valuable time for exploring different models, datasets, and techniques.</a:t>
            </a:r>
          </a:p>
          <a:p>
            <a:pPr lvl="1"/>
            <a:r>
              <a:rPr lang="en-US" b="1" dirty="0"/>
              <a:t>Saves Money</a:t>
            </a:r>
            <a:r>
              <a:rPr lang="en-US" dirty="0"/>
              <a:t>: </a:t>
            </a:r>
            <a:r>
              <a:rPr lang="en-US" b="1" dirty="0"/>
              <a:t>PEFT's memory optimizations allow for the use of less powerful computational resources,</a:t>
            </a:r>
            <a:r>
              <a:rPr lang="en-US" dirty="0"/>
              <a:t> reducing the costs associated with training on large datasets</a:t>
            </a:r>
            <a:r>
              <a:rPr lang="en-US" dirty="0" smtClean="0"/>
              <a:t>.</a:t>
            </a:r>
            <a:endParaRPr lang="en-US" dirty="0"/>
          </a:p>
        </p:txBody>
      </p:sp>
    </p:spTree>
    <p:extLst>
      <p:ext uri="{BB962C8B-B14F-4D97-AF65-F5344CB8AC3E}">
        <p14:creationId xmlns:p14="http://schemas.microsoft.com/office/powerpoint/2010/main" val="3008644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LoRA</a:t>
            </a:r>
            <a:endParaRPr lang="en-US" dirty="0"/>
          </a:p>
        </p:txBody>
      </p:sp>
      <p:sp>
        <p:nvSpPr>
          <p:cNvPr id="3" name="Content Placeholder 2"/>
          <p:cNvSpPr>
            <a:spLocks noGrp="1"/>
          </p:cNvSpPr>
          <p:nvPr>
            <p:ph idx="1"/>
          </p:nvPr>
        </p:nvSpPr>
        <p:spPr/>
        <p:txBody>
          <a:bodyPr/>
          <a:lstStyle/>
          <a:p>
            <a:r>
              <a:rPr lang="en-US" dirty="0"/>
              <a:t>In </a:t>
            </a:r>
            <a:r>
              <a:rPr lang="en-US" b="1" dirty="0"/>
              <a:t>traditional fine-tuning</a:t>
            </a:r>
            <a:r>
              <a:rPr lang="en-US" dirty="0"/>
              <a:t>, we </a:t>
            </a:r>
            <a:r>
              <a:rPr lang="en-US" b="1" dirty="0"/>
              <a:t>modify a pre-trained neural network’s weights </a:t>
            </a:r>
            <a:r>
              <a:rPr lang="en-US" dirty="0"/>
              <a:t>to adapt to a new task. </a:t>
            </a:r>
            <a:endParaRPr lang="en-US" dirty="0" smtClean="0"/>
          </a:p>
          <a:p>
            <a:r>
              <a:rPr lang="en-US" dirty="0" smtClean="0"/>
              <a:t>This </a:t>
            </a:r>
            <a:r>
              <a:rPr lang="en-US" dirty="0"/>
              <a:t>adjustment involves </a:t>
            </a:r>
            <a:r>
              <a:rPr lang="en-US" b="1" dirty="0"/>
              <a:t>altering the original weight matrix ( W ) </a:t>
            </a:r>
            <a:r>
              <a:rPr lang="en-US" dirty="0"/>
              <a:t>of the network. </a:t>
            </a:r>
            <a:endParaRPr lang="en-US" dirty="0" smtClean="0"/>
          </a:p>
          <a:p>
            <a:r>
              <a:rPr lang="en-US" dirty="0" smtClean="0"/>
              <a:t>The </a:t>
            </a:r>
            <a:r>
              <a:rPr lang="en-US" b="1" dirty="0"/>
              <a:t>changes made to ( W ) during fine-tuning are collectively represented by ( Δ W )</a:t>
            </a:r>
            <a:r>
              <a:rPr lang="en-US" dirty="0"/>
              <a:t>, </a:t>
            </a:r>
            <a:r>
              <a:rPr lang="en-US" b="1" dirty="0"/>
              <a:t>such that the updated weights can be expressed </a:t>
            </a:r>
            <a:r>
              <a:rPr lang="en-US" b="1" dirty="0" smtClean="0"/>
              <a:t>as: </a:t>
            </a:r>
          </a:p>
          <a:p>
            <a:pPr marL="0" indent="0">
              <a:buNone/>
            </a:pPr>
            <a:r>
              <a:rPr lang="en-US" b="1" dirty="0"/>
              <a:t>	</a:t>
            </a:r>
            <a:r>
              <a:rPr lang="en-US" b="1" dirty="0" smtClean="0"/>
              <a:t>	</a:t>
            </a:r>
            <a:r>
              <a:rPr lang="en-US" b="1" dirty="0"/>
              <a:t> W’ </a:t>
            </a:r>
            <a:r>
              <a:rPr lang="en-US" b="1" dirty="0" smtClean="0"/>
              <a:t> </a:t>
            </a:r>
            <a:r>
              <a:rPr lang="en-US" dirty="0" smtClean="0"/>
              <a:t>= </a:t>
            </a:r>
            <a:r>
              <a:rPr lang="en-US" b="1" dirty="0" smtClean="0"/>
              <a:t>( </a:t>
            </a:r>
            <a:r>
              <a:rPr lang="en-US" b="1" dirty="0"/>
              <a:t>W + Δ W ).</a:t>
            </a:r>
          </a:p>
        </p:txBody>
      </p:sp>
    </p:spTree>
    <p:extLst>
      <p:ext uri="{BB962C8B-B14F-4D97-AF65-F5344CB8AC3E}">
        <p14:creationId xmlns:p14="http://schemas.microsoft.com/office/powerpoint/2010/main" val="923743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Traditional View</a:t>
            </a:r>
            <a:endParaRPr lang="en-US" dirty="0"/>
          </a:p>
        </p:txBody>
      </p:sp>
      <p:pic>
        <p:nvPicPr>
          <p:cNvPr id="1026" name="Picture 2" descr="https://miro.medium.com/v2/resize:fit:1313/1*25onX1itf2Wkz8M7FLiXnA.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05457" y="1825625"/>
            <a:ext cx="498108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8368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LoRA</a:t>
            </a:r>
            <a:endParaRPr lang="en-US" dirty="0"/>
          </a:p>
        </p:txBody>
      </p:sp>
      <p:sp>
        <p:nvSpPr>
          <p:cNvPr id="3" name="Content Placeholder 2"/>
          <p:cNvSpPr>
            <a:spLocks noGrp="1"/>
          </p:cNvSpPr>
          <p:nvPr>
            <p:ph idx="1"/>
          </p:nvPr>
        </p:nvSpPr>
        <p:spPr>
          <a:xfrm>
            <a:off x="838200" y="1825625"/>
            <a:ext cx="10515600" cy="4351338"/>
          </a:xfrm>
        </p:spPr>
        <p:txBody>
          <a:bodyPr>
            <a:normAutofit/>
          </a:bodyPr>
          <a:lstStyle/>
          <a:p>
            <a:r>
              <a:rPr lang="en-US" dirty="0">
                <a:hlinkClick r:id="rId2"/>
              </a:rPr>
              <a:t>https://</a:t>
            </a:r>
            <a:r>
              <a:rPr lang="en-US" dirty="0" smtClean="0">
                <a:hlinkClick r:id="rId2"/>
              </a:rPr>
              <a:t>arxiv.org/abs/2106.09685</a:t>
            </a:r>
            <a:endParaRPr lang="en-US" dirty="0"/>
          </a:p>
          <a:p>
            <a:r>
              <a:rPr lang="en-US" dirty="0" smtClean="0"/>
              <a:t>Rather </a:t>
            </a:r>
            <a:r>
              <a:rPr lang="en-US" dirty="0"/>
              <a:t>than modifying ( W ) directly, the </a:t>
            </a:r>
            <a:r>
              <a:rPr lang="en-US" b="1" dirty="0" err="1"/>
              <a:t>LoRA</a:t>
            </a:r>
            <a:r>
              <a:rPr lang="en-US" b="1" dirty="0"/>
              <a:t> approach seeks to decompose ( Δ W )</a:t>
            </a:r>
            <a:r>
              <a:rPr lang="en-US" dirty="0"/>
              <a:t>. </a:t>
            </a:r>
            <a:endParaRPr lang="en-US" dirty="0" smtClean="0"/>
          </a:p>
          <a:p>
            <a:r>
              <a:rPr lang="en-US" dirty="0" smtClean="0"/>
              <a:t>This </a:t>
            </a:r>
            <a:r>
              <a:rPr lang="en-US" dirty="0"/>
              <a:t>decomposition is a crucial step in r</a:t>
            </a:r>
            <a:r>
              <a:rPr lang="en-US" b="1" dirty="0"/>
              <a:t>educing the computational overhead associated with fine-tuning </a:t>
            </a:r>
            <a:r>
              <a:rPr lang="en-US" dirty="0"/>
              <a:t>large models</a:t>
            </a:r>
            <a:r>
              <a:rPr lang="en-US" dirty="0" smtClean="0"/>
              <a:t>.</a:t>
            </a:r>
          </a:p>
          <a:p>
            <a:r>
              <a:rPr lang="en-US" dirty="0" err="1"/>
              <a:t>LoRA</a:t>
            </a:r>
            <a:r>
              <a:rPr lang="en-US" dirty="0"/>
              <a:t> proposes </a:t>
            </a:r>
            <a:r>
              <a:rPr lang="en-US" b="1" dirty="0"/>
              <a:t>representing ( Δ W ) as the product of two smaller matrices, ( A ) and ( B </a:t>
            </a:r>
            <a:r>
              <a:rPr lang="en-US" dirty="0"/>
              <a:t>), with a lower rank. The updated weight matrix ( W’ ) thus becomes:</a:t>
            </a:r>
          </a:p>
          <a:p>
            <a:pPr marL="0" indent="0">
              <a:buNone/>
            </a:pPr>
            <a:r>
              <a:rPr lang="en-US" dirty="0" smtClean="0"/>
              <a:t>		</a:t>
            </a:r>
            <a:r>
              <a:rPr lang="en-US" b="1" dirty="0" smtClean="0"/>
              <a:t>[ </a:t>
            </a:r>
            <a:r>
              <a:rPr lang="en-US" b="1" dirty="0"/>
              <a:t>W’ = W + BA ]</a:t>
            </a:r>
          </a:p>
        </p:txBody>
      </p:sp>
    </p:spTree>
    <p:extLst>
      <p:ext uri="{BB962C8B-B14F-4D97-AF65-F5344CB8AC3E}">
        <p14:creationId xmlns:p14="http://schemas.microsoft.com/office/powerpoint/2010/main" val="3750774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LoRA</a:t>
            </a:r>
            <a:endParaRPr lang="en-US" dirty="0"/>
          </a:p>
        </p:txBody>
      </p:sp>
      <p:pic>
        <p:nvPicPr>
          <p:cNvPr id="4" name="Content Placeholder 3"/>
          <p:cNvPicPr>
            <a:picLocks noGrp="1" noChangeAspect="1"/>
          </p:cNvPicPr>
          <p:nvPr>
            <p:ph idx="1"/>
          </p:nvPr>
        </p:nvPicPr>
        <p:blipFill>
          <a:blip r:embed="rId2"/>
          <a:stretch>
            <a:fillRect/>
          </a:stretch>
        </p:blipFill>
        <p:spPr>
          <a:xfrm>
            <a:off x="223686" y="1690688"/>
            <a:ext cx="6165863" cy="4351338"/>
          </a:xfrm>
          <a:prstGeom prst="rect">
            <a:avLst/>
          </a:prstGeom>
        </p:spPr>
      </p:pic>
      <p:sp>
        <p:nvSpPr>
          <p:cNvPr id="5" name="Rectangle 4"/>
          <p:cNvSpPr/>
          <p:nvPr/>
        </p:nvSpPr>
        <p:spPr>
          <a:xfrm>
            <a:off x="6724073" y="2136017"/>
            <a:ext cx="4922980" cy="923330"/>
          </a:xfrm>
          <a:prstGeom prst="rect">
            <a:avLst/>
          </a:prstGeom>
        </p:spPr>
        <p:txBody>
          <a:bodyPr wrap="square">
            <a:spAutoFit/>
          </a:bodyPr>
          <a:lstStyle/>
          <a:p>
            <a:pPr marL="285750" indent="-285750">
              <a:buFont typeface="Arial" panose="020B0604020202020204" pitchFamily="34" charset="0"/>
              <a:buChar char="•"/>
            </a:pPr>
            <a:r>
              <a:rPr lang="en-US" dirty="0"/>
              <a:t>The product of matrices </a:t>
            </a:r>
            <a:r>
              <a:rPr lang="en-US" dirty="0" smtClean="0"/>
              <a:t>𝐴 </a:t>
            </a:r>
            <a:r>
              <a:rPr lang="en-US" dirty="0"/>
              <a:t>of shape 𝑑×</a:t>
            </a:r>
            <a:r>
              <a:rPr lang="en-US" dirty="0" smtClean="0"/>
              <a:t>𝑟 </a:t>
            </a:r>
            <a:r>
              <a:rPr lang="en-US" dirty="0"/>
              <a:t>and </a:t>
            </a:r>
            <a:r>
              <a:rPr lang="en-US" dirty="0" smtClean="0"/>
              <a:t>𝐵 </a:t>
            </a:r>
            <a:r>
              <a:rPr lang="en-US" dirty="0"/>
              <a:t>of shape 𝑟×</a:t>
            </a:r>
            <a:r>
              <a:rPr lang="en-US" dirty="0" smtClean="0"/>
              <a:t>𝑑 </a:t>
            </a:r>
            <a:r>
              <a:rPr lang="en-US" dirty="0"/>
              <a:t>will have the shape 𝑑×</a:t>
            </a:r>
            <a:r>
              <a:rPr lang="en-US" dirty="0" smtClean="0"/>
              <a:t>𝑑.</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62586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LoRA</a:t>
            </a:r>
            <a:endParaRPr lang="en-US" dirty="0"/>
          </a:p>
        </p:txBody>
      </p:sp>
      <p:sp>
        <p:nvSpPr>
          <p:cNvPr id="3" name="Content Placeholder 2"/>
          <p:cNvSpPr>
            <a:spLocks noGrp="1"/>
          </p:cNvSpPr>
          <p:nvPr>
            <p:ph idx="1"/>
          </p:nvPr>
        </p:nvSpPr>
        <p:spPr/>
        <p:txBody>
          <a:bodyPr>
            <a:normAutofit fontScale="92500" lnSpcReduction="20000"/>
          </a:bodyPr>
          <a:lstStyle/>
          <a:p>
            <a:r>
              <a:rPr lang="en-US" dirty="0"/>
              <a:t>By </a:t>
            </a:r>
            <a:r>
              <a:rPr lang="en-US" b="1" dirty="0"/>
              <a:t>choosing matrices ( A ) and ( B ) to have a lower rank ( r ), the number of trainable parameters is significantly reduced</a:t>
            </a:r>
            <a:r>
              <a:rPr lang="en-US" dirty="0"/>
              <a:t>. </a:t>
            </a:r>
            <a:endParaRPr lang="en-US" dirty="0" smtClean="0"/>
          </a:p>
          <a:p>
            <a:r>
              <a:rPr lang="en-US" b="1" dirty="0" smtClean="0"/>
              <a:t>For </a:t>
            </a:r>
            <a:r>
              <a:rPr lang="en-US" b="1" dirty="0"/>
              <a:t>example, if ( W ) is a ( d x d ) matrix, traditionally, updating ( W ) would involve ( d² ) parameters. </a:t>
            </a:r>
            <a:endParaRPr lang="en-US" b="1" dirty="0" smtClean="0"/>
          </a:p>
          <a:p>
            <a:r>
              <a:rPr lang="en-US" b="1" dirty="0" smtClean="0"/>
              <a:t>However</a:t>
            </a:r>
            <a:r>
              <a:rPr lang="en-US" b="1" dirty="0"/>
              <a:t>, with ( B ) and ( A ) of sizes ( d x r ) and ( r x d ) respectively, the total number of parameters reduces to ( 2dr ), which is much smaller when ( r &lt;&lt; d </a:t>
            </a:r>
            <a:r>
              <a:rPr lang="en-US" b="1" dirty="0" smtClean="0"/>
              <a:t>).</a:t>
            </a:r>
          </a:p>
          <a:p>
            <a:r>
              <a:rPr lang="en-US" b="1" dirty="0"/>
              <a:t>For example, if you multiply matrix 𝐴 with shape 1000×10 and matrix 𝐵 with shape 10×1000, the resulting product will have a shape of 1000×1000</a:t>
            </a:r>
            <a:r>
              <a:rPr lang="en-US" b="1" dirty="0" smtClean="0"/>
              <a:t>.</a:t>
            </a:r>
          </a:p>
          <a:p>
            <a:pPr lvl="1"/>
            <a:r>
              <a:rPr lang="en-US" b="1" dirty="0" smtClean="0"/>
              <a:t>Matrix </a:t>
            </a:r>
            <a:r>
              <a:rPr lang="en-US" b="1" dirty="0"/>
              <a:t>A and B together have a total of </a:t>
            </a:r>
            <a:r>
              <a:rPr lang="en-US" b="1" dirty="0" smtClean="0"/>
              <a:t>20000 </a:t>
            </a:r>
            <a:r>
              <a:rPr lang="en-US" b="1" dirty="0"/>
              <a:t>parameters (since A has </a:t>
            </a:r>
            <a:r>
              <a:rPr lang="en-US" b="1" dirty="0" smtClean="0"/>
              <a:t>1000×10 </a:t>
            </a:r>
            <a:r>
              <a:rPr lang="en-US" b="1" dirty="0"/>
              <a:t>and B has </a:t>
            </a:r>
            <a:r>
              <a:rPr lang="en-US" b="1" dirty="0" smtClean="0"/>
              <a:t>10×1000 </a:t>
            </a:r>
            <a:r>
              <a:rPr lang="en-US" b="1" dirty="0"/>
              <a:t>elements</a:t>
            </a:r>
            <a:r>
              <a:rPr lang="en-US" b="1" dirty="0" smtClean="0"/>
              <a:t>). This is equivalent to 2dr. </a:t>
            </a:r>
          </a:p>
          <a:p>
            <a:pPr lvl="1"/>
            <a:r>
              <a:rPr lang="en-US" b="1" dirty="0" smtClean="0"/>
              <a:t>However</a:t>
            </a:r>
            <a:r>
              <a:rPr lang="en-US" b="1" dirty="0"/>
              <a:t>, the resulting product matrix (𝐴 × 𝐵) will have 1000000 parameters (which is 1000×1000 or d²).</a:t>
            </a:r>
          </a:p>
        </p:txBody>
      </p:sp>
    </p:spTree>
    <p:extLst>
      <p:ext uri="{BB962C8B-B14F-4D97-AF65-F5344CB8AC3E}">
        <p14:creationId xmlns:p14="http://schemas.microsoft.com/office/powerpoint/2010/main" val="2726438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LoRA</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reduction in the number of trainable parameters, as achieved through the Low-Rank Adaptation (</a:t>
            </a:r>
            <a:r>
              <a:rPr lang="en-US" dirty="0" err="1"/>
              <a:t>LoRA</a:t>
            </a:r>
            <a:r>
              <a:rPr lang="en-US" dirty="0"/>
              <a:t>) method, offers several significant benefits, particularly when fine-tuning large-scale neural networks</a:t>
            </a:r>
            <a:r>
              <a:rPr lang="en-US" dirty="0" smtClean="0"/>
              <a:t>:</a:t>
            </a:r>
            <a:endParaRPr lang="en-US" dirty="0"/>
          </a:p>
          <a:p>
            <a:r>
              <a:rPr lang="en-US" b="1" dirty="0"/>
              <a:t>Reduced Memory Footprint</a:t>
            </a:r>
            <a:r>
              <a:rPr lang="en-US" dirty="0"/>
              <a:t>: </a:t>
            </a:r>
            <a:r>
              <a:rPr lang="en-US" dirty="0" err="1"/>
              <a:t>LoRA</a:t>
            </a:r>
            <a:r>
              <a:rPr lang="en-US" dirty="0"/>
              <a:t> </a:t>
            </a:r>
            <a:r>
              <a:rPr lang="en-US" b="1" dirty="0"/>
              <a:t>decreases memory needs by lowering the number of parameters to update</a:t>
            </a:r>
            <a:r>
              <a:rPr lang="en-US" dirty="0"/>
              <a:t>, aiding in the management of large-scale models.</a:t>
            </a:r>
          </a:p>
          <a:p>
            <a:r>
              <a:rPr lang="en-US" b="1" dirty="0"/>
              <a:t>Faster Training and Adaptation</a:t>
            </a:r>
            <a:r>
              <a:rPr lang="en-US" dirty="0"/>
              <a:t>: By simplifying computational demands</a:t>
            </a:r>
            <a:r>
              <a:rPr lang="en-US" b="1" dirty="0"/>
              <a:t>, </a:t>
            </a:r>
            <a:r>
              <a:rPr lang="en-US" b="1" dirty="0" err="1"/>
              <a:t>LoRA</a:t>
            </a:r>
            <a:r>
              <a:rPr lang="en-US" b="1" dirty="0"/>
              <a:t> accelerates the training and fine-tuning </a:t>
            </a:r>
            <a:r>
              <a:rPr lang="en-US" dirty="0"/>
              <a:t>of large models for new tasks.</a:t>
            </a:r>
          </a:p>
          <a:p>
            <a:r>
              <a:rPr lang="en-US" b="1" dirty="0"/>
              <a:t>Feasibility for Smaller Hardware</a:t>
            </a:r>
            <a:r>
              <a:rPr lang="en-US" dirty="0"/>
              <a:t>: </a:t>
            </a:r>
            <a:r>
              <a:rPr lang="en-US" b="1" dirty="0" err="1"/>
              <a:t>LoRA’s</a:t>
            </a:r>
            <a:r>
              <a:rPr lang="en-US" b="1" dirty="0"/>
              <a:t> lower parameter</a:t>
            </a:r>
            <a:r>
              <a:rPr lang="en-US" dirty="0"/>
              <a:t> count enables the fine-tuning of substantial models on less powerful hardware, like </a:t>
            </a:r>
            <a:r>
              <a:rPr lang="en-US" b="1" dirty="0"/>
              <a:t>modest GPUs </a:t>
            </a:r>
            <a:r>
              <a:rPr lang="en-US" dirty="0"/>
              <a:t>or CPUs</a:t>
            </a:r>
            <a:r>
              <a:rPr lang="en-US" dirty="0" smtClean="0"/>
              <a:t>.</a:t>
            </a:r>
            <a:endParaRPr lang="en-US" dirty="0"/>
          </a:p>
        </p:txBody>
      </p:sp>
    </p:spTree>
    <p:extLst>
      <p:ext uri="{BB962C8B-B14F-4D97-AF65-F5344CB8AC3E}">
        <p14:creationId xmlns:p14="http://schemas.microsoft.com/office/powerpoint/2010/main" val="2626916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QLoRA</a:t>
            </a:r>
            <a:endParaRPr lang="en-US" dirty="0"/>
          </a:p>
        </p:txBody>
      </p:sp>
      <p:sp>
        <p:nvSpPr>
          <p:cNvPr id="3" name="Content Placeholder 2"/>
          <p:cNvSpPr>
            <a:spLocks noGrp="1"/>
          </p:cNvSpPr>
          <p:nvPr>
            <p:ph idx="1"/>
          </p:nvPr>
        </p:nvSpPr>
        <p:spPr/>
        <p:txBody>
          <a:bodyPr>
            <a:normAutofit lnSpcReduction="10000"/>
          </a:bodyPr>
          <a:lstStyle/>
          <a:p>
            <a:r>
              <a:rPr lang="en-US">
                <a:hlinkClick r:id="rId2"/>
              </a:rPr>
              <a:t>https://</a:t>
            </a:r>
            <a:r>
              <a:rPr lang="en-US" smtClean="0">
                <a:hlinkClick r:id="rId2"/>
              </a:rPr>
              <a:t>arxiv.org/abs/2305.14314</a:t>
            </a:r>
            <a:endParaRPr lang="en-US"/>
          </a:p>
          <a:p>
            <a:r>
              <a:rPr lang="en-US" dirty="0" err="1" smtClean="0"/>
              <a:t>QLoRA</a:t>
            </a:r>
            <a:r>
              <a:rPr lang="en-US" dirty="0" smtClean="0"/>
              <a:t> </a:t>
            </a:r>
            <a:r>
              <a:rPr lang="en-US" dirty="0"/>
              <a:t>is the extended version of </a:t>
            </a:r>
            <a:r>
              <a:rPr lang="en-US" dirty="0" err="1"/>
              <a:t>LoRA</a:t>
            </a:r>
            <a:r>
              <a:rPr lang="en-US" dirty="0"/>
              <a:t> which works by</a:t>
            </a:r>
            <a:r>
              <a:rPr lang="en-US" b="1" dirty="0"/>
              <a:t> quantizing the precision of the weight parameters </a:t>
            </a:r>
            <a:r>
              <a:rPr lang="en-US" dirty="0"/>
              <a:t>in the pre trained </a:t>
            </a:r>
            <a:r>
              <a:rPr lang="en-US" dirty="0" smtClean="0"/>
              <a:t>LLM. </a:t>
            </a:r>
          </a:p>
          <a:p>
            <a:r>
              <a:rPr lang="en-US" dirty="0" smtClean="0"/>
              <a:t>Typically</a:t>
            </a:r>
            <a:r>
              <a:rPr lang="en-US" dirty="0"/>
              <a:t>, </a:t>
            </a:r>
            <a:r>
              <a:rPr lang="en-US" b="1" dirty="0"/>
              <a:t>parameters of trained models are stored in a 32-bit format, but </a:t>
            </a:r>
            <a:r>
              <a:rPr lang="en-US" b="1" dirty="0" err="1"/>
              <a:t>QLoRA</a:t>
            </a:r>
            <a:r>
              <a:rPr lang="en-US" b="1" dirty="0"/>
              <a:t> compresses them to a 4-bit format</a:t>
            </a:r>
            <a:r>
              <a:rPr lang="en-US" dirty="0"/>
              <a:t>. </a:t>
            </a:r>
            <a:endParaRPr lang="en-US" dirty="0" smtClean="0"/>
          </a:p>
          <a:p>
            <a:r>
              <a:rPr lang="en-US" dirty="0" smtClean="0"/>
              <a:t>This </a:t>
            </a:r>
            <a:r>
              <a:rPr lang="en-US" dirty="0"/>
              <a:t>reduces the memory footprint of the LLM, </a:t>
            </a:r>
            <a:r>
              <a:rPr lang="en-US" b="1" dirty="0"/>
              <a:t>making it possible to </a:t>
            </a:r>
            <a:r>
              <a:rPr lang="en-US" b="1" dirty="0" err="1"/>
              <a:t>finetune</a:t>
            </a:r>
            <a:r>
              <a:rPr lang="en-US" b="1" dirty="0"/>
              <a:t> it on a single GPU</a:t>
            </a:r>
            <a:r>
              <a:rPr lang="en-US" dirty="0"/>
              <a:t>. </a:t>
            </a:r>
            <a:endParaRPr lang="en-US" dirty="0" smtClean="0"/>
          </a:p>
          <a:p>
            <a:r>
              <a:rPr lang="en-US" dirty="0" smtClean="0"/>
              <a:t>This </a:t>
            </a:r>
            <a:r>
              <a:rPr lang="en-US" dirty="0"/>
              <a:t>method significantly reduces the memory footprint, making it feasible to run LLM models on less powerful hardware, including consumer GPUs.</a:t>
            </a:r>
          </a:p>
        </p:txBody>
      </p:sp>
    </p:spTree>
    <p:extLst>
      <p:ext uri="{BB962C8B-B14F-4D97-AF65-F5344CB8AC3E}">
        <p14:creationId xmlns:p14="http://schemas.microsoft.com/office/powerpoint/2010/main" val="1156876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QLoRA</a:t>
            </a:r>
            <a:endParaRPr lang="en-US" dirty="0"/>
          </a:p>
        </p:txBody>
      </p:sp>
      <p:sp>
        <p:nvSpPr>
          <p:cNvPr id="3" name="Content Placeholder 2"/>
          <p:cNvSpPr>
            <a:spLocks noGrp="1"/>
          </p:cNvSpPr>
          <p:nvPr>
            <p:ph idx="1"/>
          </p:nvPr>
        </p:nvSpPr>
        <p:spPr/>
        <p:txBody>
          <a:bodyPr>
            <a:normAutofit/>
          </a:bodyPr>
          <a:lstStyle/>
          <a:p>
            <a:r>
              <a:rPr lang="en-US" dirty="0"/>
              <a:t>A </a:t>
            </a:r>
            <a:r>
              <a:rPr lang="en-US" b="1" dirty="0"/>
              <a:t>32-bit float</a:t>
            </a:r>
            <a:r>
              <a:rPr lang="en-US" dirty="0"/>
              <a:t> is a data type used in computer programming to represent </a:t>
            </a:r>
            <a:r>
              <a:rPr lang="en-US" b="1" dirty="0"/>
              <a:t>decimal numbers with a high degree of precision</a:t>
            </a:r>
            <a:r>
              <a:rPr lang="en-US" dirty="0"/>
              <a:t>, using 32 bits to store the value, which typically includes </a:t>
            </a:r>
            <a:endParaRPr lang="en-US" dirty="0" smtClean="0"/>
          </a:p>
          <a:p>
            <a:pPr lvl="1"/>
            <a:r>
              <a:rPr lang="en-US" dirty="0" smtClean="0"/>
              <a:t>1 </a:t>
            </a:r>
            <a:r>
              <a:rPr lang="en-US" dirty="0"/>
              <a:t>bit for the sign, </a:t>
            </a:r>
            <a:endParaRPr lang="en-US" dirty="0" smtClean="0"/>
          </a:p>
          <a:p>
            <a:pPr lvl="1"/>
            <a:r>
              <a:rPr lang="en-US" dirty="0" smtClean="0"/>
              <a:t>8 </a:t>
            </a:r>
            <a:r>
              <a:rPr lang="en-US" dirty="0"/>
              <a:t>bits for the exponent, </a:t>
            </a:r>
            <a:endParaRPr lang="en-US" dirty="0" smtClean="0"/>
          </a:p>
          <a:p>
            <a:pPr lvl="1"/>
            <a:r>
              <a:rPr lang="en-US" dirty="0" smtClean="0"/>
              <a:t>and </a:t>
            </a:r>
            <a:r>
              <a:rPr lang="en-US" dirty="0"/>
              <a:t>23 bits for the mantissa (the significant digits of the number). </a:t>
            </a:r>
            <a:endParaRPr lang="en-US" dirty="0" smtClean="0"/>
          </a:p>
          <a:p>
            <a:r>
              <a:rPr lang="en-US" dirty="0"/>
              <a:t>A</a:t>
            </a:r>
            <a:r>
              <a:rPr lang="en-US" dirty="0" smtClean="0"/>
              <a:t> </a:t>
            </a:r>
            <a:r>
              <a:rPr lang="en-US" b="1" dirty="0"/>
              <a:t>4-bit </a:t>
            </a:r>
            <a:r>
              <a:rPr lang="en-US" b="1" dirty="0" err="1"/>
              <a:t>NormalFloat</a:t>
            </a:r>
            <a:r>
              <a:rPr lang="en-US" dirty="0"/>
              <a:t> is a significantly smaller representation, using only 4 bits to encode a number, which </a:t>
            </a:r>
            <a:r>
              <a:rPr lang="en-US" b="1" dirty="0"/>
              <a:t>limits its range and precision</a:t>
            </a:r>
            <a:r>
              <a:rPr lang="en-US" dirty="0"/>
              <a:t>. The 4-bit format </a:t>
            </a:r>
            <a:r>
              <a:rPr lang="en-US" b="1" dirty="0"/>
              <a:t>may sacrifice accuracy for memory efficiency</a:t>
            </a:r>
            <a:r>
              <a:rPr lang="en-US" dirty="0"/>
              <a:t> and is typically used in scenarios where low precision is </a:t>
            </a:r>
            <a:r>
              <a:rPr lang="en-US" dirty="0" smtClean="0"/>
              <a:t>acceptable</a:t>
            </a:r>
            <a:r>
              <a:rPr lang="en-US" dirty="0"/>
              <a:t>.</a:t>
            </a:r>
          </a:p>
        </p:txBody>
      </p:sp>
    </p:spTree>
    <p:extLst>
      <p:ext uri="{BB962C8B-B14F-4D97-AF65-F5344CB8AC3E}">
        <p14:creationId xmlns:p14="http://schemas.microsoft.com/office/powerpoint/2010/main" val="2126339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QLoRA</a:t>
            </a:r>
            <a:endParaRPr lang="en-US" dirty="0"/>
          </a:p>
        </p:txBody>
      </p:sp>
      <p:sp>
        <p:nvSpPr>
          <p:cNvPr id="3" name="Content Placeholder 2"/>
          <p:cNvSpPr>
            <a:spLocks noGrp="1"/>
          </p:cNvSpPr>
          <p:nvPr>
            <p:ph idx="1"/>
          </p:nvPr>
        </p:nvSpPr>
        <p:spPr/>
        <p:txBody>
          <a:bodyPr>
            <a:normAutofit/>
          </a:bodyPr>
          <a:lstStyle/>
          <a:p>
            <a:pPr marL="0" indent="0">
              <a:buNone/>
            </a:pPr>
            <a:r>
              <a:rPr lang="en-US" dirty="0"/>
              <a:t>According to </a:t>
            </a:r>
            <a:r>
              <a:rPr lang="en-US" dirty="0" err="1"/>
              <a:t>QLoRA</a:t>
            </a:r>
            <a:r>
              <a:rPr lang="en-US" dirty="0"/>
              <a:t> </a:t>
            </a:r>
            <a:r>
              <a:rPr lang="en-US" dirty="0" smtClean="0"/>
              <a:t>paper QLORA </a:t>
            </a:r>
            <a:r>
              <a:rPr lang="en-US" dirty="0"/>
              <a:t>introduces multiple innovations designed to reduce memory use without sacrificing performance: </a:t>
            </a:r>
            <a:endParaRPr lang="en-US" dirty="0" smtClean="0"/>
          </a:p>
          <a:p>
            <a:pPr marL="457200" lvl="1" indent="0">
              <a:buNone/>
            </a:pPr>
            <a:r>
              <a:rPr lang="en-US" b="1" dirty="0" smtClean="0"/>
              <a:t>4-bit </a:t>
            </a:r>
            <a:r>
              <a:rPr lang="en-US" b="1" dirty="0" err="1"/>
              <a:t>NormalFloat</a:t>
            </a:r>
            <a:r>
              <a:rPr lang="en-US" dirty="0"/>
              <a:t>, an information theoretically optimal quantization data type for normally distributed data </a:t>
            </a:r>
            <a:r>
              <a:rPr lang="en-US" b="1" dirty="0"/>
              <a:t>that yields better empirical results than 4-bit </a:t>
            </a:r>
            <a:r>
              <a:rPr lang="en-US" b="1" dirty="0" smtClean="0"/>
              <a:t>Integers</a:t>
            </a:r>
            <a:r>
              <a:rPr lang="en-US" dirty="0" smtClean="0"/>
              <a:t>. </a:t>
            </a:r>
            <a:endParaRPr lang="en-US" dirty="0"/>
          </a:p>
        </p:txBody>
      </p:sp>
    </p:spTree>
    <p:extLst>
      <p:ext uri="{BB962C8B-B14F-4D97-AF65-F5344CB8AC3E}">
        <p14:creationId xmlns:p14="http://schemas.microsoft.com/office/powerpoint/2010/main" val="2581593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2099</TotalTime>
  <Words>2330</Words>
  <Application>Microsoft Office PowerPoint</Application>
  <PresentationFormat>Widescreen</PresentationFormat>
  <Paragraphs>147</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Advanced Generative AI</vt:lpstr>
      <vt:lpstr>Generation Quality Evaluation</vt:lpstr>
      <vt:lpstr>Text Generation Quality Evaluation</vt:lpstr>
      <vt:lpstr>Text Generation Quality Evaluation</vt:lpstr>
      <vt:lpstr>ROUGE </vt:lpstr>
      <vt:lpstr>ROGUE</vt:lpstr>
      <vt:lpstr>ROGUE</vt:lpstr>
      <vt:lpstr>ROGUE</vt:lpstr>
      <vt:lpstr>BLEU</vt:lpstr>
      <vt:lpstr>BLEU</vt:lpstr>
      <vt:lpstr>BERTScore</vt:lpstr>
      <vt:lpstr>METEOR</vt:lpstr>
      <vt:lpstr>Self-BLEU</vt:lpstr>
      <vt:lpstr>Some real world evaluation measures</vt:lpstr>
      <vt:lpstr>LLM Evaluation boards</vt:lpstr>
      <vt:lpstr>Google Gemni API Overview for Generative AI Projects</vt:lpstr>
      <vt:lpstr>Google Gemni API Overview</vt:lpstr>
      <vt:lpstr>Fine-tuning</vt:lpstr>
      <vt:lpstr>Fine-tuning</vt:lpstr>
      <vt:lpstr>Fine-tuning</vt:lpstr>
      <vt:lpstr>What is PEFT Finetuning?</vt:lpstr>
      <vt:lpstr>The Rationale Behind PEFT Finetuning</vt:lpstr>
      <vt:lpstr>LoRA</vt:lpstr>
      <vt:lpstr>Traditional View</vt:lpstr>
      <vt:lpstr>LoRA</vt:lpstr>
      <vt:lpstr>LoRA</vt:lpstr>
      <vt:lpstr>LoRA</vt:lpstr>
      <vt:lpstr>LoRA</vt:lpstr>
      <vt:lpstr>QLoRA</vt:lpstr>
      <vt:lpstr>QLoRA</vt:lpstr>
      <vt:lpstr>QLoRA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Generative AI</dc:title>
  <dc:creator>Microsoft account</dc:creator>
  <cp:lastModifiedBy>Microsoft account</cp:lastModifiedBy>
  <cp:revision>102</cp:revision>
  <dcterms:created xsi:type="dcterms:W3CDTF">2024-10-03T09:40:50Z</dcterms:created>
  <dcterms:modified xsi:type="dcterms:W3CDTF">2025-11-19T19:18:30Z</dcterms:modified>
</cp:coreProperties>
</file>